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judges! Criterion 1 is Learning Value (25%), and AfriCloud was engineered from the ground up for genuine exam readiness. Unlike flat quiz apps that give a false sense of confidence, we model Microsoft's exact syllabus weighting: 27.5% Concepts, 37.5% Architecture, and 35% Governance. More importantly, we eliminate the 'Why Is This Wrong' gap—every scenario question breaks down all three wrong answers, paired with active-recall flashcard memory locks.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Prompt Engineering (20%), we built 'Rafiki'—a culturally grounded cloud mentor. Our system instructions in geminiService.js enforce strict curriculum boundaries to prevent hallucination, while dynamically injecting the learner's VARK learning style and dialect. Abstract cloud concepts like High Availability and ExpressRoute are systematically mapped to everyday African realities like M-Pesa float distribution and SGR rail networks.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User Experience &amp; Vibes (15%), we designed an interface that makes cloud prep addictive rather than exhausting. Learners travel a 4-level visual roadmap with confetti celebrations, sound synthesizer chimes, and instant VARK style switching. Equally important is inclusion: AfriCloud targets WCAG 2.1 AAA compliance with offline text-to-speech, dyslexia typography, and full keyboard navigation.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Rapid Prototyping &amp; Execution (15%) demonstrates how much can be achieved with modern vibe coding. In under 48 hours, we delivered a production React 19 app, deployed globally on Vercel, with an offline Progressive Web App Service Worker that lets students study seamlessly through power outages or low-data commutes.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Technical Creativity (15%): we used browser APIs in clever ways—zero-dependency Web Audio synthesizers for instant sound feedback, background Service Worker notification alarms that fire even with closed tabs, and a mathematical readiness radar. The project is open source and running live. Scan the QR code or visit az900-vibe-agent.vercel.app to experience AfriCloud right now!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5303520" cy="32004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38BDF8"/>
                </a:solidFill>
                <a:latin typeface="Segoe UI"/>
              </a:defRPr>
            </a:pPr>
            <a:r>
              <a:t>RUBRIC CRITERION 1: 📚 LEARNING VALUE  |  WEIGHT: 25%</a:t>
            </a:r>
          </a:p>
        </p:txBody>
      </p:sp>
      <p:sp>
        <p:nvSpPr>
          <p:cNvPr id="4" name="TextBox 3"/>
          <p:cNvSpPr txBox="1"/>
          <p:nvPr/>
        </p:nvSpPr>
        <p:spPr>
          <a:xfrm>
            <a:off x="731520" y="749808"/>
            <a:ext cx="10698480" cy="594360"/>
          </a:xfrm>
          <a:prstGeom prst="rect">
            <a:avLst/>
          </a:prstGeom>
          <a:noFill/>
        </p:spPr>
        <p:txBody>
          <a:bodyPr wrap="square">
            <a:spAutoFit/>
          </a:bodyPr>
          <a:lstStyle/>
          <a:p>
            <a:pPr>
              <a:defRPr sz="2300" b="1">
                <a:solidFill>
                  <a:srgbClr val="F8FAFC"/>
                </a:solidFill>
                <a:latin typeface="Segoe UI"/>
              </a:defRPr>
            </a:pPr>
            <a:r>
              <a:t>AfriCloud AZ-900: Rigorous Pedagogical Mastery</a:t>
            </a:r>
          </a:p>
        </p:txBody>
      </p:sp>
      <p:sp>
        <p:nvSpPr>
          <p:cNvPr id="5" name="TextBox 4"/>
          <p:cNvSpPr txBox="1"/>
          <p:nvPr/>
        </p:nvSpPr>
        <p:spPr>
          <a:xfrm>
            <a:off x="731520" y="1325880"/>
            <a:ext cx="10698480" cy="411480"/>
          </a:xfrm>
          <a:prstGeom prst="rect">
            <a:avLst/>
          </a:prstGeom>
          <a:noFill/>
        </p:spPr>
        <p:txBody>
          <a:bodyPr wrap="square">
            <a:spAutoFit/>
          </a:bodyPr>
          <a:lstStyle/>
          <a:p>
            <a:pPr>
              <a:defRPr sz="1250" i="1">
                <a:solidFill>
                  <a:srgbClr val="F59E0B"/>
                </a:solidFill>
                <a:latin typeface="Segoe UI"/>
              </a:defRPr>
            </a:pPr>
            <a:r>
              <a:t>Genuine Exam Preparation Calibrated to Microsoft's Official 700/1000 Passing Standard</a:t>
            </a:r>
          </a:p>
        </p:txBody>
      </p:sp>
      <p:sp>
        <p:nvSpPr>
          <p:cNvPr id="6" name="Rounded Rectangle 5"/>
          <p:cNvSpPr/>
          <p:nvPr/>
        </p:nvSpPr>
        <p:spPr>
          <a:xfrm>
            <a:off x="731520" y="1920240"/>
            <a:ext cx="5212080" cy="4297680"/>
          </a:xfrm>
          <a:prstGeom prst="roundRect">
            <a:avLst/>
          </a:prstGeom>
          <a:solidFill>
            <a:srgbClr val="151E34"/>
          </a:solidFill>
          <a:ln w="19050">
            <a:solidFill>
              <a:srgbClr val="2D41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57400"/>
            <a:ext cx="4846320" cy="3931920"/>
          </a:xfrm>
          <a:prstGeom prst="rect">
            <a:avLst/>
          </a:prstGeom>
          <a:noFill/>
        </p:spPr>
        <p:txBody>
          <a:bodyPr wrap="square">
            <a:spAutoFit/>
          </a:bodyPr>
          <a:lstStyle/>
          <a:p>
            <a:pPr>
              <a:defRPr sz="1400" b="1">
                <a:solidFill>
                  <a:srgbClr val="38BDF8"/>
                </a:solidFill>
              </a:defRPr>
            </a:pPr>
            <a:r>
              <a:t>OFFICIAL SYLLABUS CALIBRATION</a:t>
            </a:r>
          </a:p>
          <a:p>
            <a:pPr>
              <a:spcBef>
                <a:spcPts val="800"/>
              </a:spcBef>
              <a:defRPr sz="1050"/>
            </a:pPr>
            <a:r>
              <a:rPr b="1">
                <a:solidFill>
                  <a:srgbClr val="F8FAFC"/>
                </a:solidFill>
              </a:rPr>
              <a:t>• Strict Microsoft Learn Alignment: </a:t>
            </a:r>
            <a:r>
              <a:rPr>
                <a:solidFill>
                  <a:srgbClr val="94A3B8"/>
                </a:solidFill>
              </a:rPr>
              <a:t>Covers all 3 official core exam domains: Cloud Concepts (27.5%), Architecture &amp; Services (37.5%), and Management &amp; Governance (35.0%).</a:t>
            </a:r>
          </a:p>
          <a:p>
            <a:pPr>
              <a:spcBef>
                <a:spcPts val="800"/>
              </a:spcBef>
              <a:defRPr sz="1050"/>
            </a:pPr>
            <a:r>
              <a:rPr b="1">
                <a:solidFill>
                  <a:srgbClr val="F8FAFC"/>
                </a:solidFill>
              </a:rPr>
              <a:t>• Mathematical Readiness Modeling: </a:t>
            </a:r>
            <a:r>
              <a:rPr>
                <a:solidFill>
                  <a:srgbClr val="94A3B8"/>
                </a:solidFill>
              </a:rPr>
              <a:t>Instead of a naive quiz percentage, we calculate: R_exam = 0.275·C + 0.375·A + 0.35·G, mirroring Pearson VUE's actual 700/1000 passing threshold.</a:t>
            </a:r>
          </a:p>
          <a:p>
            <a:pPr>
              <a:spcBef>
                <a:spcPts val="800"/>
              </a:spcBef>
              <a:defRPr sz="1050"/>
            </a:pPr>
            <a:r>
              <a:rPr b="1">
                <a:solidFill>
                  <a:srgbClr val="F8FAFC"/>
                </a:solidFill>
              </a:rPr>
              <a:t>• 30-Second Baseline Diagnostic: </a:t>
            </a:r>
            <a:r>
              <a:rPr>
                <a:solidFill>
                  <a:srgbClr val="94A3B8"/>
                </a:solidFill>
              </a:rPr>
              <a:t>Onboarding assessment instantly classifies learners (Novice vs. Intermediate) and generates a tailored study plan.</a:t>
            </a:r>
          </a:p>
          <a:p>
            <a:pPr>
              <a:spcBef>
                <a:spcPts val="800"/>
              </a:spcBef>
              <a:defRPr sz="1050"/>
            </a:pPr>
            <a:r>
              <a:rPr b="1">
                <a:solidFill>
                  <a:srgbClr val="F8FAFC"/>
                </a:solidFill>
              </a:rPr>
              <a:t>• Eliminating Voucher Waste: </a:t>
            </a:r>
            <a:r>
              <a:rPr>
                <a:solidFill>
                  <a:srgbClr val="94A3B8"/>
                </a:solidFill>
              </a:rPr>
              <a:t>Prevents learners from risking $99 exam vouchers before their weighted readiness hits 75%+.</a:t>
            </a:r>
          </a:p>
        </p:txBody>
      </p:sp>
      <p:sp>
        <p:nvSpPr>
          <p:cNvPr id="8" name="Rounded Rectangle 7"/>
          <p:cNvSpPr/>
          <p:nvPr/>
        </p:nvSpPr>
        <p:spPr>
          <a:xfrm>
            <a:off x="6217920" y="1920240"/>
            <a:ext cx="5212080" cy="4297680"/>
          </a:xfrm>
          <a:prstGeom prst="roundRect">
            <a:avLst/>
          </a:prstGeom>
          <a:solidFill>
            <a:srgbClr val="151E34"/>
          </a:solidFill>
          <a:ln w="19050">
            <a:solidFill>
              <a:srgbClr val="2D41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2057400"/>
            <a:ext cx="4846320" cy="3931920"/>
          </a:xfrm>
          <a:prstGeom prst="rect">
            <a:avLst/>
          </a:prstGeom>
          <a:noFill/>
        </p:spPr>
        <p:txBody>
          <a:bodyPr wrap="square">
            <a:spAutoFit/>
          </a:bodyPr>
          <a:lstStyle/>
          <a:p>
            <a:pPr>
              <a:defRPr sz="1400" b="1">
                <a:solidFill>
                  <a:srgbClr val="F59E0B"/>
                </a:solidFill>
              </a:defRPr>
            </a:pPr>
            <a:r>
              <a:t>COGNITIVE LOCK &amp; DISTRACTOR ANALYSIS</a:t>
            </a:r>
          </a:p>
          <a:p>
            <a:pPr>
              <a:spcBef>
                <a:spcPts val="800"/>
              </a:spcBef>
              <a:defRPr sz="1050"/>
            </a:pPr>
            <a:r>
              <a:rPr b="1">
                <a:solidFill>
                  <a:srgbClr val="10B981"/>
                </a:solidFill>
              </a:rPr>
              <a:t>✓ The 'Why It's Wrong' Gap: </a:t>
            </a:r>
            <a:r>
              <a:rPr>
                <a:solidFill>
                  <a:srgbClr val="94A3B8"/>
                </a:solidFill>
              </a:rPr>
              <a:t>Standard test dumps only show which option is correct. AfriCloud breaks down every single wrong option (distractors) to explain WHY it fails.</a:t>
            </a:r>
          </a:p>
          <a:p>
            <a:pPr>
              <a:spcBef>
                <a:spcPts val="800"/>
              </a:spcBef>
              <a:defRPr sz="1050"/>
            </a:pPr>
            <a:r>
              <a:rPr b="1">
                <a:solidFill>
                  <a:srgbClr val="10B981"/>
                </a:solidFill>
              </a:rPr>
              <a:t>✓ Active Recall Memory Locks: </a:t>
            </a:r>
            <a:r>
              <a:rPr>
                <a:solidFill>
                  <a:srgbClr val="94A3B8"/>
                </a:solidFill>
              </a:rPr>
              <a:t>High-yield spaced-repetition flashcards ensure long-term retention of critical parameters (SLA percentages, CapEx vs OpEx, Blob storage tiers).</a:t>
            </a:r>
          </a:p>
          <a:p>
            <a:pPr>
              <a:spcBef>
                <a:spcPts val="800"/>
              </a:spcBef>
              <a:defRPr sz="1050"/>
            </a:pPr>
            <a:r>
              <a:rPr b="1">
                <a:solidFill>
                  <a:srgbClr val="10B981"/>
                </a:solidFill>
              </a:rPr>
              <a:t>✓ Automated Weak Area Pitstops: </a:t>
            </a:r>
            <a:r>
              <a:rPr>
                <a:solidFill>
                  <a:srgbClr val="94A3B8"/>
                </a:solidFill>
              </a:rPr>
              <a:t>Subtopics scoring below 70% (e.g. Azure Networking at 0%) trigger automated remediation pitstops directly on the roadmap.</a:t>
            </a:r>
          </a:p>
          <a:p>
            <a:pPr>
              <a:spcBef>
                <a:spcPts val="800"/>
              </a:spcBef>
              <a:defRPr sz="1050"/>
            </a:pPr>
            <a:r>
              <a:rPr b="1">
                <a:solidFill>
                  <a:srgbClr val="10B981"/>
                </a:solidFill>
              </a:rPr>
              <a:t>✓ Real Scenario Questions: </a:t>
            </a:r>
            <a:r>
              <a:rPr>
                <a:solidFill>
                  <a:srgbClr val="94A3B8"/>
                </a:solidFill>
              </a:rPr>
              <a:t>Scenario-based practice questions replace mindless trivia memorization with enterprise problem-solving.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5303520" cy="32004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38BDF8"/>
                </a:solidFill>
                <a:latin typeface="Segoe UI"/>
              </a:defRPr>
            </a:pPr>
            <a:r>
              <a:t>RUBRIC CRITERION 2: 🔍 PROMPT ENGINEERING  |  WEIGHT: 20%</a:t>
            </a:r>
          </a:p>
        </p:txBody>
      </p:sp>
      <p:sp>
        <p:nvSpPr>
          <p:cNvPr id="4" name="TextBox 3"/>
          <p:cNvSpPr txBox="1"/>
          <p:nvPr/>
        </p:nvSpPr>
        <p:spPr>
          <a:xfrm>
            <a:off x="731520" y="749808"/>
            <a:ext cx="10698480" cy="594360"/>
          </a:xfrm>
          <a:prstGeom prst="rect">
            <a:avLst/>
          </a:prstGeom>
          <a:noFill/>
        </p:spPr>
        <p:txBody>
          <a:bodyPr wrap="square">
            <a:spAutoFit/>
          </a:bodyPr>
          <a:lstStyle/>
          <a:p>
            <a:pPr>
              <a:defRPr sz="2300" b="1">
                <a:solidFill>
                  <a:srgbClr val="F8FAFC"/>
                </a:solidFill>
                <a:latin typeface="Segoe UI"/>
              </a:defRPr>
            </a:pPr>
            <a:r>
              <a:t>Intelligent AI Architecture: 'Rafiki' Cloud Mentor</a:t>
            </a:r>
          </a:p>
        </p:txBody>
      </p:sp>
      <p:sp>
        <p:nvSpPr>
          <p:cNvPr id="5" name="TextBox 4"/>
          <p:cNvSpPr txBox="1"/>
          <p:nvPr/>
        </p:nvSpPr>
        <p:spPr>
          <a:xfrm>
            <a:off x="731520" y="1325880"/>
            <a:ext cx="10698480" cy="411480"/>
          </a:xfrm>
          <a:prstGeom prst="rect">
            <a:avLst/>
          </a:prstGeom>
          <a:noFill/>
        </p:spPr>
        <p:txBody>
          <a:bodyPr wrap="square">
            <a:spAutoFit/>
          </a:bodyPr>
          <a:lstStyle/>
          <a:p>
            <a:pPr>
              <a:defRPr sz="1250" i="1">
                <a:solidFill>
                  <a:srgbClr val="F59E0B"/>
                </a:solidFill>
                <a:latin typeface="Segoe UI"/>
              </a:defRPr>
            </a:pPr>
            <a:r>
              <a:t>Multi-Tier Guardrails, Grounded African Metaphors, and Structured Dynamic Ingestion</a:t>
            </a:r>
          </a:p>
        </p:txBody>
      </p:sp>
      <p:sp>
        <p:nvSpPr>
          <p:cNvPr id="6" name="Rounded Rectangle 5"/>
          <p:cNvSpPr/>
          <p:nvPr/>
        </p:nvSpPr>
        <p:spPr>
          <a:xfrm>
            <a:off x="731520" y="1920240"/>
            <a:ext cx="5212080" cy="4297680"/>
          </a:xfrm>
          <a:prstGeom prst="roundRect">
            <a:avLst/>
          </a:prstGeom>
          <a:solidFill>
            <a:srgbClr val="151E34"/>
          </a:solidFill>
          <a:ln w="19050">
            <a:solidFill>
              <a:srgbClr val="2D41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57400"/>
            <a:ext cx="4846320" cy="3931920"/>
          </a:xfrm>
          <a:prstGeom prst="rect">
            <a:avLst/>
          </a:prstGeom>
          <a:noFill/>
        </p:spPr>
        <p:txBody>
          <a:bodyPr wrap="square">
            <a:spAutoFit/>
          </a:bodyPr>
          <a:lstStyle/>
          <a:p>
            <a:pPr>
              <a:defRPr sz="1400" b="1">
                <a:solidFill>
                  <a:srgbClr val="38BDF8"/>
                </a:solidFill>
              </a:defRPr>
            </a:pPr>
            <a:r>
              <a:t>SYSTEM PROMPT GUARDRAILS &amp; STRUCTURE</a:t>
            </a:r>
          </a:p>
          <a:p>
            <a:pPr>
              <a:spcBef>
                <a:spcPts val="800"/>
              </a:spcBef>
              <a:defRPr sz="1050"/>
            </a:pPr>
            <a:r>
              <a:rPr b="1">
                <a:solidFill>
                  <a:srgbClr val="F8FAFC"/>
                </a:solidFill>
              </a:rPr>
              <a:t>🤖 Curriculum Boundary Enforcement: </a:t>
            </a:r>
            <a:r>
              <a:rPr>
                <a:solidFill>
                  <a:srgbClr val="94A3B8"/>
                </a:solidFill>
              </a:rPr>
              <a:t>System instruction strictly locks Gemini 1.5 Flash within the official AZ-900 syllabus, preventing hallucinated enterprise complexities.</a:t>
            </a:r>
          </a:p>
          <a:p>
            <a:pPr>
              <a:spcBef>
                <a:spcPts val="800"/>
              </a:spcBef>
              <a:defRPr sz="1050"/>
            </a:pPr>
            <a:r>
              <a:rPr b="1">
                <a:solidFill>
                  <a:srgbClr val="F8FAFC"/>
                </a:solidFill>
              </a:rPr>
              <a:t>🤖 Dynamic Context Injection: </a:t>
            </a:r>
            <a:r>
              <a:rPr>
                <a:solidFill>
                  <a:srgbClr val="94A3B8"/>
                </a:solidFill>
              </a:rPr>
              <a:t>Prompts dynamically ingest: [1] Learner's VARK Style, [2] Detected Topic Weakness, [3] Cultural Dialect Preference (English, Sheng, Pidgin, French).</a:t>
            </a:r>
          </a:p>
          <a:p>
            <a:pPr>
              <a:spcBef>
                <a:spcPts val="800"/>
              </a:spcBef>
              <a:defRPr sz="1050"/>
            </a:pPr>
            <a:r>
              <a:rPr b="1">
                <a:solidFill>
                  <a:srgbClr val="F8FAFC"/>
                </a:solidFill>
              </a:rPr>
              <a:t>🤖 Structured Few-Shot Templates: </a:t>
            </a:r>
            <a:r>
              <a:rPr>
                <a:solidFill>
                  <a:srgbClr val="94A3B8"/>
                </a:solidFill>
              </a:rPr>
              <a:t>Enforces strict JSON/Markdown schema output for bulleted architectural tradeoffs and CLI sandbox steps.</a:t>
            </a:r>
          </a:p>
          <a:p>
            <a:pPr>
              <a:spcBef>
                <a:spcPts val="800"/>
              </a:spcBef>
              <a:defRPr sz="1050"/>
            </a:pPr>
            <a:r>
              <a:rPr b="1">
                <a:solidFill>
                  <a:srgbClr val="F8FAFC"/>
                </a:solidFill>
              </a:rPr>
              <a:t>🤖 Deterministic Fallback Trees: </a:t>
            </a:r>
            <a:r>
              <a:rPr>
                <a:solidFill>
                  <a:srgbClr val="94A3B8"/>
                </a:solidFill>
              </a:rPr>
              <a:t>Pre-engineered fallback response trees mirror exact prompt schemas when the learner has no internet or API key.</a:t>
            </a:r>
          </a:p>
        </p:txBody>
      </p:sp>
      <p:sp>
        <p:nvSpPr>
          <p:cNvPr id="8" name="Rounded Rectangle 7"/>
          <p:cNvSpPr/>
          <p:nvPr/>
        </p:nvSpPr>
        <p:spPr>
          <a:xfrm>
            <a:off x="6217920" y="1920240"/>
            <a:ext cx="5212080" cy="4297680"/>
          </a:xfrm>
          <a:prstGeom prst="roundRect">
            <a:avLst/>
          </a:prstGeom>
          <a:solidFill>
            <a:srgbClr val="151E34"/>
          </a:solidFill>
          <a:ln w="19050">
            <a:solidFill>
              <a:srgbClr val="2D41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2057400"/>
            <a:ext cx="4846320" cy="3931920"/>
          </a:xfrm>
          <a:prstGeom prst="rect">
            <a:avLst/>
          </a:prstGeom>
          <a:noFill/>
        </p:spPr>
        <p:txBody>
          <a:bodyPr wrap="square">
            <a:spAutoFit/>
          </a:bodyPr>
          <a:lstStyle/>
          <a:p>
            <a:pPr>
              <a:defRPr sz="1400" b="1">
                <a:solidFill>
                  <a:srgbClr val="F59E0B"/>
                </a:solidFill>
              </a:defRPr>
            </a:pPr>
            <a:r>
              <a:t>PURPOSEFUL AFRICAN PEDAGOGICAL PROMPTING</a:t>
            </a:r>
          </a:p>
          <a:p>
            <a:pPr>
              <a:spcBef>
                <a:spcPts val="800"/>
              </a:spcBef>
              <a:defRPr sz="1050"/>
            </a:pPr>
            <a:r>
              <a:rPr b="1">
                <a:solidFill>
                  <a:srgbClr val="10B981"/>
                </a:solidFill>
              </a:rPr>
              <a:t>🌍 High Availability &amp; Fault Tolerance: </a:t>
            </a:r>
            <a:r>
              <a:rPr>
                <a:solidFill>
                  <a:srgbClr val="94A3B8"/>
                </a:solidFill>
              </a:rPr>
              <a:t>Prompted to explain regional redundancy via M-Pesa agent float rebalancing across adjacent Kenyan towns.</a:t>
            </a:r>
          </a:p>
          <a:p>
            <a:pPr>
              <a:spcBef>
                <a:spcPts val="800"/>
              </a:spcBef>
              <a:defRPr sz="1050"/>
            </a:pPr>
            <a:r>
              <a:rPr b="1">
                <a:solidFill>
                  <a:srgbClr val="10B981"/>
                </a:solidFill>
              </a:rPr>
              <a:t>🌍 IaaS vs PaaS vs SaaS: </a:t>
            </a:r>
            <a:r>
              <a:rPr>
                <a:solidFill>
                  <a:srgbClr val="94A3B8"/>
                </a:solidFill>
              </a:rPr>
              <a:t>Instructed to compare cloud models to building a personal farm granary (IaaS) vs renting communal harvest space (PaaS).</a:t>
            </a:r>
          </a:p>
          <a:p>
            <a:pPr>
              <a:spcBef>
                <a:spcPts val="800"/>
              </a:spcBef>
              <a:defRPr sz="1050"/>
            </a:pPr>
            <a:r>
              <a:rPr b="1">
                <a:solidFill>
                  <a:srgbClr val="10B981"/>
                </a:solidFill>
              </a:rPr>
              <a:t>🌍 Azure VPN vs ExpressRoute: </a:t>
            </a:r>
            <a:r>
              <a:rPr>
                <a:solidFill>
                  <a:srgbClr val="94A3B8"/>
                </a:solidFill>
              </a:rPr>
              <a:t>Contrasts a bullion van on a busy public highway (VPN) vs a private dedicated high-speed railway track (ExpressRoute).</a:t>
            </a:r>
          </a:p>
          <a:p>
            <a:pPr>
              <a:spcBef>
                <a:spcPts val="800"/>
              </a:spcBef>
              <a:defRPr sz="1050"/>
            </a:pPr>
            <a:r>
              <a:rPr b="1">
                <a:solidFill>
                  <a:srgbClr val="10B981"/>
                </a:solidFill>
              </a:rPr>
              <a:t>🌍 Multilingual Vernacular: </a:t>
            </a:r>
            <a:r>
              <a:rPr>
                <a:solidFill>
                  <a:srgbClr val="94A3B8"/>
                </a:solidFill>
              </a:rPr>
              <a:t>Natively generates analogies in Kiswahili/Sheng ('reli ya SGR'), Nigerian Pidgin ('private helicopter track'), and French.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5303520" cy="32004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38BDF8"/>
                </a:solidFill>
                <a:latin typeface="Segoe UI"/>
              </a:defRPr>
            </a:pPr>
            <a:r>
              <a:t>RUBRIC CRITERION 3: 🎨 USER EXPERIENCE &amp; VIBES  |  WEIGHT: 15%</a:t>
            </a:r>
          </a:p>
        </p:txBody>
      </p:sp>
      <p:sp>
        <p:nvSpPr>
          <p:cNvPr id="4" name="TextBox 3"/>
          <p:cNvSpPr txBox="1"/>
          <p:nvPr/>
        </p:nvSpPr>
        <p:spPr>
          <a:xfrm>
            <a:off x="731520" y="749808"/>
            <a:ext cx="10698480" cy="594360"/>
          </a:xfrm>
          <a:prstGeom prst="rect">
            <a:avLst/>
          </a:prstGeom>
          <a:noFill/>
        </p:spPr>
        <p:txBody>
          <a:bodyPr wrap="square">
            <a:spAutoFit/>
          </a:bodyPr>
          <a:lstStyle/>
          <a:p>
            <a:pPr>
              <a:defRPr sz="2300" b="1">
                <a:solidFill>
                  <a:srgbClr val="F8FAFC"/>
                </a:solidFill>
                <a:latin typeface="Segoe UI"/>
              </a:defRPr>
            </a:pPr>
            <a:r>
              <a:t>Aesthetic, Engaging, and Universally Accessible</a:t>
            </a:r>
          </a:p>
        </p:txBody>
      </p:sp>
      <p:sp>
        <p:nvSpPr>
          <p:cNvPr id="5" name="TextBox 4"/>
          <p:cNvSpPr txBox="1"/>
          <p:nvPr/>
        </p:nvSpPr>
        <p:spPr>
          <a:xfrm>
            <a:off x="731520" y="1325880"/>
            <a:ext cx="10698480" cy="411480"/>
          </a:xfrm>
          <a:prstGeom prst="rect">
            <a:avLst/>
          </a:prstGeom>
          <a:noFill/>
        </p:spPr>
        <p:txBody>
          <a:bodyPr wrap="square">
            <a:spAutoFit/>
          </a:bodyPr>
          <a:lstStyle/>
          <a:p>
            <a:pPr>
              <a:defRPr sz="1250" i="1">
                <a:solidFill>
                  <a:srgbClr val="F59E0B"/>
                </a:solidFill>
                <a:latin typeface="Segoe UI"/>
              </a:defRPr>
            </a:pPr>
            <a:r>
              <a:t>Obsidian UI, Gamified Checkpoints, Instant Feedback, and WCAG 2.1 AAA Inclusion</a:t>
            </a:r>
          </a:p>
        </p:txBody>
      </p:sp>
      <p:sp>
        <p:nvSpPr>
          <p:cNvPr id="6" name="Rounded Rectangle 5"/>
          <p:cNvSpPr/>
          <p:nvPr/>
        </p:nvSpPr>
        <p:spPr>
          <a:xfrm>
            <a:off x="731520" y="1920240"/>
            <a:ext cx="5212080" cy="4297680"/>
          </a:xfrm>
          <a:prstGeom prst="roundRect">
            <a:avLst/>
          </a:prstGeom>
          <a:solidFill>
            <a:srgbClr val="151E34"/>
          </a:solidFill>
          <a:ln w="19050">
            <a:solidFill>
              <a:srgbClr val="2D41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57400"/>
            <a:ext cx="4846320" cy="3931920"/>
          </a:xfrm>
          <a:prstGeom prst="rect">
            <a:avLst/>
          </a:prstGeom>
          <a:noFill/>
        </p:spPr>
        <p:txBody>
          <a:bodyPr wrap="square">
            <a:spAutoFit/>
          </a:bodyPr>
          <a:lstStyle/>
          <a:p>
            <a:pPr>
              <a:defRPr sz="1400" b="1">
                <a:solidFill>
                  <a:srgbClr val="F59E0B"/>
                </a:solidFill>
              </a:defRPr>
            </a:pPr>
            <a:r>
              <a:t>VIBE CODING &amp; 'WOW' MOMENTS</a:t>
            </a:r>
          </a:p>
          <a:p>
            <a:pPr>
              <a:spcBef>
                <a:spcPts val="800"/>
              </a:spcBef>
              <a:defRPr sz="1050"/>
            </a:pPr>
            <a:r>
              <a:rPr b="1">
                <a:solidFill>
                  <a:srgbClr val="F8FAFC"/>
                </a:solidFill>
              </a:rPr>
              <a:t>✨ Interactive Visual Roadmap: </a:t>
            </a:r>
            <a:r>
              <a:rPr>
                <a:solidFill>
                  <a:srgbClr val="94A3B8"/>
                </a:solidFill>
              </a:rPr>
              <a:t>4-level progressive mastery highway featuring glowing unlocked nodes, locked gates, and pulsing weak-area pitstops.</a:t>
            </a:r>
          </a:p>
          <a:p>
            <a:pPr>
              <a:spcBef>
                <a:spcPts val="800"/>
              </a:spcBef>
              <a:defRPr sz="1050"/>
            </a:pPr>
            <a:r>
              <a:rPr b="1">
                <a:solidFill>
                  <a:srgbClr val="F8FAFC"/>
                </a:solidFill>
              </a:rPr>
              <a:t>✨ Gamified Dopamine Loops: </a:t>
            </a:r>
            <a:r>
              <a:rPr>
                <a:solidFill>
                  <a:srgbClr val="94A3B8"/>
                </a:solidFill>
              </a:rPr>
              <a:t>Confetti celebrations upon passing checkpoints, streak counters, and real-time SVG circular readiness gauge animations.</a:t>
            </a:r>
          </a:p>
          <a:p>
            <a:pPr>
              <a:spcBef>
                <a:spcPts val="800"/>
              </a:spcBef>
              <a:defRPr sz="1050"/>
            </a:pPr>
            <a:r>
              <a:rPr b="1">
                <a:solidFill>
                  <a:srgbClr val="F8FAFC"/>
                </a:solidFill>
              </a:rPr>
              <a:t>✨ VARK Multimodal Personalization: </a:t>
            </a:r>
            <a:r>
              <a:rPr>
                <a:solidFill>
                  <a:srgbClr val="94A3B8"/>
                </a:solidFill>
              </a:rPr>
              <a:t>1-click instant switching between Architecture Diagrams (Visual), African Stories (Auditory), CLI Sandboxes (Kinesthetic), and Cheat Sheets (Reading).</a:t>
            </a:r>
          </a:p>
          <a:p>
            <a:pPr>
              <a:spcBef>
                <a:spcPts val="800"/>
              </a:spcBef>
              <a:defRPr sz="1050"/>
            </a:pPr>
            <a:r>
              <a:rPr b="1">
                <a:solidFill>
                  <a:srgbClr val="F8FAFC"/>
                </a:solidFill>
              </a:rPr>
              <a:t>✨ Zero Anxiety Onboarding: </a:t>
            </a:r>
            <a:r>
              <a:rPr>
                <a:solidFill>
                  <a:srgbClr val="94A3B8"/>
                </a:solidFill>
              </a:rPr>
              <a:t>Friendly, clean aesthetic built with Tailwind CSS v4 and Plus Jakarta Sans typography.</a:t>
            </a:r>
          </a:p>
        </p:txBody>
      </p:sp>
      <p:sp>
        <p:nvSpPr>
          <p:cNvPr id="8" name="Rounded Rectangle 7"/>
          <p:cNvSpPr/>
          <p:nvPr/>
        </p:nvSpPr>
        <p:spPr>
          <a:xfrm>
            <a:off x="6217920" y="1920240"/>
            <a:ext cx="5212080" cy="4297680"/>
          </a:xfrm>
          <a:prstGeom prst="roundRect">
            <a:avLst/>
          </a:prstGeom>
          <a:solidFill>
            <a:srgbClr val="151E34"/>
          </a:solidFill>
          <a:ln w="19050">
            <a:solidFill>
              <a:srgbClr val="2D41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2057400"/>
            <a:ext cx="4846320" cy="3931920"/>
          </a:xfrm>
          <a:prstGeom prst="rect">
            <a:avLst/>
          </a:prstGeom>
          <a:noFill/>
        </p:spPr>
        <p:txBody>
          <a:bodyPr wrap="square">
            <a:spAutoFit/>
          </a:bodyPr>
          <a:lstStyle/>
          <a:p>
            <a:pPr>
              <a:defRPr sz="1400" b="1">
                <a:solidFill>
                  <a:srgbClr val="10B981"/>
                </a:solidFill>
              </a:defRPr>
            </a:pPr>
            <a:r>
              <a:t>TARGET WCAG 2.1 AAA ACCESSIBILITY</a:t>
            </a:r>
          </a:p>
          <a:p>
            <a:pPr>
              <a:spcBef>
                <a:spcPts val="800"/>
              </a:spcBef>
              <a:defRPr sz="1050"/>
            </a:pPr>
            <a:r>
              <a:rPr b="1">
                <a:solidFill>
                  <a:srgbClr val="38BDF8"/>
                </a:solidFill>
              </a:rPr>
              <a:t>♿ Web Speech Text-to-Speech: </a:t>
            </a:r>
            <a:r>
              <a:rPr>
                <a:solidFill>
                  <a:srgbClr val="94A3B8"/>
                </a:solidFill>
              </a:rPr>
              <a:t>Full offline read-aloud allows visually impaired and busy commuters to listen to questions and analogies.</a:t>
            </a:r>
          </a:p>
          <a:p>
            <a:pPr>
              <a:spcBef>
                <a:spcPts val="800"/>
              </a:spcBef>
              <a:defRPr sz="1050"/>
            </a:pPr>
            <a:r>
              <a:rPr b="1">
                <a:solidFill>
                  <a:srgbClr val="38BDF8"/>
                </a:solidFill>
              </a:rPr>
              <a:t>♿ Dyslexia-Friendly Typography: </a:t>
            </a:r>
            <a:r>
              <a:rPr>
                <a:solidFill>
                  <a:srgbClr val="94A3B8"/>
                </a:solidFill>
              </a:rPr>
              <a:t>Custom letter spacing, line height, and font-weight toggles eliminate visual crowding.</a:t>
            </a:r>
          </a:p>
          <a:p>
            <a:pPr>
              <a:spcBef>
                <a:spcPts val="800"/>
              </a:spcBef>
              <a:defRPr sz="1050"/>
            </a:pPr>
            <a:r>
              <a:rPr b="1">
                <a:solidFill>
                  <a:srgbClr val="38BDF8"/>
                </a:solidFill>
              </a:rPr>
              <a:t>♿ High-Contrast Mode: </a:t>
            </a:r>
            <a:r>
              <a:rPr>
                <a:solidFill>
                  <a:srgbClr val="94A3B8"/>
                </a:solidFill>
              </a:rPr>
              <a:t>7:1+ contrast ratio ensures legibility in bright sunlight or low-light studying.</a:t>
            </a:r>
          </a:p>
          <a:p>
            <a:pPr>
              <a:spcBef>
                <a:spcPts val="800"/>
              </a:spcBef>
              <a:defRPr sz="1050"/>
            </a:pPr>
            <a:r>
              <a:rPr b="1">
                <a:solidFill>
                  <a:srgbClr val="38BDF8"/>
                </a:solidFill>
              </a:rPr>
              <a:t>♿ 100% Single-Hand Keyboard Nav: </a:t>
            </a:r>
            <a:r>
              <a:rPr>
                <a:solidFill>
                  <a:srgbClr val="94A3B8"/>
                </a:solidFill>
              </a:rPr>
              <a:t>Full desktop access without a mouse: Keys 1-4 for answers, Space to flip flashcards, N for next mission, Enter to submit.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5303520" cy="32004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38BDF8"/>
                </a:solidFill>
                <a:latin typeface="Segoe UI"/>
              </a:defRPr>
            </a:pPr>
            <a:r>
              <a:t>RUBRIC CRITERION 4: ⚡ RAPID PROTOTYPING &amp; EXECUTION  |  WEIGHT: 15%</a:t>
            </a:r>
          </a:p>
        </p:txBody>
      </p:sp>
      <p:sp>
        <p:nvSpPr>
          <p:cNvPr id="4" name="TextBox 3"/>
          <p:cNvSpPr txBox="1"/>
          <p:nvPr/>
        </p:nvSpPr>
        <p:spPr>
          <a:xfrm>
            <a:off x="731520" y="749808"/>
            <a:ext cx="10698480" cy="594360"/>
          </a:xfrm>
          <a:prstGeom prst="rect">
            <a:avLst/>
          </a:prstGeom>
          <a:noFill/>
        </p:spPr>
        <p:txBody>
          <a:bodyPr wrap="square">
            <a:spAutoFit/>
          </a:bodyPr>
          <a:lstStyle/>
          <a:p>
            <a:pPr>
              <a:defRPr sz="2300" b="1">
                <a:solidFill>
                  <a:srgbClr val="F8FAFC"/>
                </a:solidFill>
                <a:latin typeface="Segoe UI"/>
              </a:defRPr>
            </a:pPr>
            <a:r>
              <a:t>High-Velocity Engineering: From Idea to Production in 48h</a:t>
            </a:r>
          </a:p>
        </p:txBody>
      </p:sp>
      <p:sp>
        <p:nvSpPr>
          <p:cNvPr id="5" name="TextBox 4"/>
          <p:cNvSpPr txBox="1"/>
          <p:nvPr/>
        </p:nvSpPr>
        <p:spPr>
          <a:xfrm>
            <a:off x="731520" y="1325880"/>
            <a:ext cx="10698480" cy="411480"/>
          </a:xfrm>
          <a:prstGeom prst="rect">
            <a:avLst/>
          </a:prstGeom>
          <a:noFill/>
        </p:spPr>
        <p:txBody>
          <a:bodyPr wrap="square">
            <a:spAutoFit/>
          </a:bodyPr>
          <a:lstStyle/>
          <a:p>
            <a:pPr>
              <a:defRPr sz="1250" i="1">
                <a:solidFill>
                  <a:srgbClr val="F59E0B"/>
                </a:solidFill>
                <a:latin typeface="Segoe UI"/>
              </a:defRPr>
            </a:pPr>
            <a:r>
              <a:t>React 19, Vite 8, Tailwind CSS v4, Progressive Web App Architecture, and Live Vercel CI/CD</a:t>
            </a:r>
          </a:p>
        </p:txBody>
      </p:sp>
      <p:sp>
        <p:nvSpPr>
          <p:cNvPr id="6" name="Rounded Rectangle 5"/>
          <p:cNvSpPr/>
          <p:nvPr/>
        </p:nvSpPr>
        <p:spPr>
          <a:xfrm>
            <a:off x="731520" y="1920240"/>
            <a:ext cx="5212080" cy="4297680"/>
          </a:xfrm>
          <a:prstGeom prst="roundRect">
            <a:avLst/>
          </a:prstGeom>
          <a:solidFill>
            <a:srgbClr val="151E34"/>
          </a:solidFill>
          <a:ln w="19050">
            <a:solidFill>
              <a:srgbClr val="2D41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57400"/>
            <a:ext cx="4846320" cy="3931920"/>
          </a:xfrm>
          <a:prstGeom prst="rect">
            <a:avLst/>
          </a:prstGeom>
          <a:noFill/>
        </p:spPr>
        <p:txBody>
          <a:bodyPr wrap="square">
            <a:spAutoFit/>
          </a:bodyPr>
          <a:lstStyle/>
          <a:p>
            <a:pPr>
              <a:defRPr sz="1400" b="1">
                <a:solidFill>
                  <a:srgbClr val="38BDF8"/>
                </a:solidFill>
              </a:defRPr>
            </a:pPr>
            <a:r>
              <a:t>FULL-STACK PRODUCTION DELIVERY</a:t>
            </a:r>
          </a:p>
          <a:p>
            <a:pPr>
              <a:spcBef>
                <a:spcPts val="800"/>
              </a:spcBef>
              <a:defRPr sz="1050"/>
            </a:pPr>
            <a:r>
              <a:rPr b="1">
                <a:solidFill>
                  <a:srgbClr val="F8FAFC"/>
                </a:solidFill>
              </a:rPr>
              <a:t>⚡ Complete Codebase in 48 Hours: </a:t>
            </a:r>
            <a:r>
              <a:rPr>
                <a:solidFill>
                  <a:srgbClr val="94A3B8"/>
                </a:solidFill>
              </a:rPr>
              <a:t>Built 12+ modular components, 3-domain question banks, flashcards, diagnostic engine, and service worker from scratch.</a:t>
            </a:r>
          </a:p>
          <a:p>
            <a:pPr>
              <a:spcBef>
                <a:spcPts val="800"/>
              </a:spcBef>
              <a:defRPr sz="1050"/>
            </a:pPr>
            <a:r>
              <a:rPr b="1">
                <a:solidFill>
                  <a:srgbClr val="F8FAFC"/>
                </a:solidFill>
              </a:rPr>
              <a:t>⚡ Vite 8 + React 19 Frontend: </a:t>
            </a:r>
            <a:r>
              <a:rPr>
                <a:solidFill>
                  <a:srgbClr val="94A3B8"/>
                </a:solidFill>
              </a:rPr>
              <a:t>Sub-second hot-module reloading and lightning-fast static builds (&lt;150ms client boot).</a:t>
            </a:r>
          </a:p>
          <a:p>
            <a:pPr>
              <a:spcBef>
                <a:spcPts val="800"/>
              </a:spcBef>
              <a:defRPr sz="1050"/>
            </a:pPr>
            <a:r>
              <a:rPr b="1">
                <a:solidFill>
                  <a:srgbClr val="F8FAFC"/>
                </a:solidFill>
              </a:rPr>
              <a:t>⚡ Live Global Deployment: </a:t>
            </a:r>
            <a:r>
              <a:rPr>
                <a:solidFill>
                  <a:srgbClr val="94A3B8"/>
                </a:solidFill>
              </a:rPr>
              <a:t>Deployed on Vercel edge infrastructure with continuous integration hooked directly to GitHub main branch.</a:t>
            </a:r>
          </a:p>
          <a:p>
            <a:pPr>
              <a:spcBef>
                <a:spcPts val="800"/>
              </a:spcBef>
              <a:defRPr sz="1050"/>
            </a:pPr>
            <a:r>
              <a:rPr b="1">
                <a:solidFill>
                  <a:srgbClr val="F8FAFC"/>
                </a:solidFill>
              </a:rPr>
              <a:t>⚡ Zero-Friction State Storage: </a:t>
            </a:r>
            <a:r>
              <a:rPr>
                <a:solidFill>
                  <a:srgbClr val="94A3B8"/>
                </a:solidFill>
              </a:rPr>
              <a:t>Robust localStorage synchronization ensures user scores, streaks, and flashcard masteries persist without requiring cumbersome user accounts.</a:t>
            </a:r>
          </a:p>
        </p:txBody>
      </p:sp>
      <p:sp>
        <p:nvSpPr>
          <p:cNvPr id="8" name="Rounded Rectangle 7"/>
          <p:cNvSpPr/>
          <p:nvPr/>
        </p:nvSpPr>
        <p:spPr>
          <a:xfrm>
            <a:off x="6217920" y="1920240"/>
            <a:ext cx="5212080" cy="4297680"/>
          </a:xfrm>
          <a:prstGeom prst="roundRect">
            <a:avLst/>
          </a:prstGeom>
          <a:solidFill>
            <a:srgbClr val="151E34"/>
          </a:solidFill>
          <a:ln w="19050">
            <a:solidFill>
              <a:srgbClr val="2D41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2057400"/>
            <a:ext cx="4846320" cy="3931920"/>
          </a:xfrm>
          <a:prstGeom prst="rect">
            <a:avLst/>
          </a:prstGeom>
          <a:noFill/>
        </p:spPr>
        <p:txBody>
          <a:bodyPr wrap="square">
            <a:spAutoFit/>
          </a:bodyPr>
          <a:lstStyle/>
          <a:p>
            <a:pPr>
              <a:defRPr sz="1400" b="1">
                <a:solidFill>
                  <a:srgbClr val="F59E0B"/>
                </a:solidFill>
              </a:defRPr>
            </a:pPr>
            <a:r>
              <a:t>PROGRESSIVE WEB APP &amp; OFFLINE RESILIENCE</a:t>
            </a:r>
          </a:p>
          <a:p>
            <a:pPr>
              <a:spcBef>
                <a:spcPts val="800"/>
              </a:spcBef>
              <a:defRPr sz="1050"/>
            </a:pPr>
            <a:r>
              <a:rPr b="1">
                <a:solidFill>
                  <a:srgbClr val="10B981"/>
                </a:solidFill>
              </a:rPr>
              <a:t>📱 100% Offline-First Caching: </a:t>
            </a:r>
            <a:r>
              <a:rPr>
                <a:solidFill>
                  <a:srgbClr val="94A3B8"/>
                </a:solidFill>
              </a:rPr>
              <a:t>Custom Service Worker (sw.js) precaches all core scripts, styles, and curriculums. The app loads and runs with zero active internet connection.</a:t>
            </a:r>
          </a:p>
          <a:p>
            <a:pPr>
              <a:spcBef>
                <a:spcPts val="800"/>
              </a:spcBef>
              <a:defRPr sz="1050"/>
            </a:pPr>
            <a:r>
              <a:rPr b="1">
                <a:solidFill>
                  <a:srgbClr val="10B981"/>
                </a:solidFill>
              </a:rPr>
              <a:t>📱 Load-Shedding &amp; Commute Ready: </a:t>
            </a:r>
            <a:r>
              <a:rPr>
                <a:solidFill>
                  <a:srgbClr val="94A3B8"/>
                </a:solidFill>
              </a:rPr>
              <a:t>Engineered specifically for African infrastructure realities—learners study on public transit or during electrical blackouts without data loss.</a:t>
            </a:r>
          </a:p>
          <a:p>
            <a:pPr>
              <a:spcBef>
                <a:spcPts val="800"/>
              </a:spcBef>
              <a:defRPr sz="1050"/>
            </a:pPr>
            <a:r>
              <a:rPr b="1">
                <a:solidFill>
                  <a:srgbClr val="10B981"/>
                </a:solidFill>
              </a:rPr>
              <a:t>📱 Adaptive Sprint Planner: </a:t>
            </a:r>
            <a:r>
              <a:rPr>
                <a:solidFill>
                  <a:srgbClr val="94A3B8"/>
                </a:solidFill>
              </a:rPr>
              <a:t>Intelligent scheduler computes required daily study minutes based on the learner's chosen exam target date.</a:t>
            </a:r>
          </a:p>
          <a:p>
            <a:pPr>
              <a:spcBef>
                <a:spcPts val="800"/>
              </a:spcBef>
              <a:defRPr sz="1050"/>
            </a:pPr>
            <a:r>
              <a:rPr b="1">
                <a:solidFill>
                  <a:srgbClr val="10B981"/>
                </a:solidFill>
              </a:rPr>
              <a:t>📱 Clean Open Source Standards: </a:t>
            </a:r>
            <a:r>
              <a:rPr>
                <a:solidFill>
                  <a:srgbClr val="94A3B8"/>
                </a:solidFill>
              </a:rPr>
              <a:t>Full test suites, clean directory architecture, and thorough documentation in GitHub repository.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5303520" cy="32004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38BDF8"/>
                </a:solidFill>
                <a:latin typeface="Segoe UI"/>
              </a:defRPr>
            </a:pPr>
            <a:r>
              <a:t>RUBRIC CRITERION 5: 🧠 TECHNICAL CREATIVITY  |  WEIGHT: 15%</a:t>
            </a:r>
          </a:p>
        </p:txBody>
      </p:sp>
      <p:sp>
        <p:nvSpPr>
          <p:cNvPr id="4" name="TextBox 3"/>
          <p:cNvSpPr txBox="1"/>
          <p:nvPr/>
        </p:nvSpPr>
        <p:spPr>
          <a:xfrm>
            <a:off x="731520" y="749808"/>
            <a:ext cx="10698480" cy="594360"/>
          </a:xfrm>
          <a:prstGeom prst="rect">
            <a:avLst/>
          </a:prstGeom>
          <a:noFill/>
        </p:spPr>
        <p:txBody>
          <a:bodyPr wrap="square">
            <a:spAutoFit/>
          </a:bodyPr>
          <a:lstStyle/>
          <a:p>
            <a:pPr>
              <a:defRPr sz="2300" b="1">
                <a:solidFill>
                  <a:srgbClr val="F8FAFC"/>
                </a:solidFill>
                <a:latin typeface="Segoe UI"/>
              </a:defRPr>
            </a:pPr>
            <a:r>
              <a:t>Clever Engineering, Zero Dependencies &amp; Live Verification</a:t>
            </a:r>
          </a:p>
        </p:txBody>
      </p:sp>
      <p:sp>
        <p:nvSpPr>
          <p:cNvPr id="5" name="TextBox 4"/>
          <p:cNvSpPr txBox="1"/>
          <p:nvPr/>
        </p:nvSpPr>
        <p:spPr>
          <a:xfrm>
            <a:off x="731520" y="1325880"/>
            <a:ext cx="10698480" cy="411480"/>
          </a:xfrm>
          <a:prstGeom prst="rect">
            <a:avLst/>
          </a:prstGeom>
          <a:noFill/>
        </p:spPr>
        <p:txBody>
          <a:bodyPr wrap="square">
            <a:spAutoFit/>
          </a:bodyPr>
          <a:lstStyle/>
          <a:p>
            <a:pPr>
              <a:defRPr sz="1250" i="1">
                <a:solidFill>
                  <a:srgbClr val="F59E0B"/>
                </a:solidFill>
                <a:latin typeface="Segoe UI"/>
              </a:defRPr>
            </a:pPr>
            <a:r>
              <a:t>Background Service Worker Alarms, Web Audio Synthesizer, and Live Demonstration</a:t>
            </a:r>
          </a:p>
        </p:txBody>
      </p:sp>
      <p:sp>
        <p:nvSpPr>
          <p:cNvPr id="6" name="Rounded Rectangle 5"/>
          <p:cNvSpPr/>
          <p:nvPr/>
        </p:nvSpPr>
        <p:spPr>
          <a:xfrm>
            <a:off x="731520" y="1920240"/>
            <a:ext cx="6217920" cy="4297680"/>
          </a:xfrm>
          <a:prstGeom prst="roundRect">
            <a:avLst/>
          </a:prstGeom>
          <a:solidFill>
            <a:srgbClr val="151E34"/>
          </a:solidFill>
          <a:ln w="19050">
            <a:solidFill>
              <a:srgbClr val="2D41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57400"/>
            <a:ext cx="5852160" cy="3931920"/>
          </a:xfrm>
          <a:prstGeom prst="rect">
            <a:avLst/>
          </a:prstGeom>
          <a:noFill/>
        </p:spPr>
        <p:txBody>
          <a:bodyPr wrap="square">
            <a:spAutoFit/>
          </a:bodyPr>
          <a:lstStyle/>
          <a:p>
            <a:pPr>
              <a:defRPr sz="1400" b="1">
                <a:solidFill>
                  <a:srgbClr val="38BDF8"/>
                </a:solidFill>
              </a:defRPr>
            </a:pPr>
            <a:r>
              <a:t>UNIQUE TOOL USE &amp; CLEVER ARCHITECTURE</a:t>
            </a:r>
          </a:p>
          <a:p>
            <a:pPr>
              <a:spcBef>
                <a:spcPts val="600"/>
              </a:spcBef>
              <a:defRPr sz="1050"/>
            </a:pPr>
            <a:r>
              <a:rPr b="1">
                <a:solidFill>
                  <a:srgbClr val="F8FAFC"/>
                </a:solidFill>
              </a:rPr>
              <a:t>💡 Background Offline Reminder Alarms: </a:t>
            </a:r>
            <a:r>
              <a:rPr>
                <a:solidFill>
                  <a:srgbClr val="94A3B8"/>
                </a:solidFill>
              </a:rPr>
              <a:t>Uses W3C Web Notifications and Service Worker background timers to schedule revision alerts that fire even if the browser tab is closed.</a:t>
            </a:r>
          </a:p>
          <a:p>
            <a:pPr>
              <a:spcBef>
                <a:spcPts val="600"/>
              </a:spcBef>
              <a:defRPr sz="1050"/>
            </a:pPr>
            <a:r>
              <a:rPr b="1">
                <a:solidFill>
                  <a:srgbClr val="F8FAFC"/>
                </a:solidFill>
              </a:rPr>
              <a:t>💡 Zero-Dependency Web Audio Synth: </a:t>
            </a:r>
            <a:r>
              <a:rPr>
                <a:solidFill>
                  <a:srgbClr val="94A3B8"/>
                </a:solidFill>
              </a:rPr>
              <a:t>Synthesizes harmonic audio chimes using pure browser oscillators (AudioContext)—zero MP3 audio downloads required!</a:t>
            </a:r>
          </a:p>
          <a:p>
            <a:pPr>
              <a:spcBef>
                <a:spcPts val="600"/>
              </a:spcBef>
              <a:defRPr sz="1050"/>
            </a:pPr>
            <a:r>
              <a:rPr b="1">
                <a:solidFill>
                  <a:srgbClr val="F8FAFC"/>
                </a:solidFill>
              </a:rPr>
              <a:t>💡 Closed-Loop Weakness Detection: </a:t>
            </a:r>
            <a:r>
              <a:rPr>
                <a:solidFill>
                  <a:srgbClr val="94A3B8"/>
                </a:solidFill>
              </a:rPr>
              <a:t>Autonomous heuristic engine flags any subtopic &lt; 70% and dynamically injects remediation pitstops into the visual road map.</a:t>
            </a:r>
          </a:p>
          <a:p>
            <a:pPr>
              <a:spcBef>
                <a:spcPts val="600"/>
              </a:spcBef>
              <a:defRPr sz="1050"/>
            </a:pPr>
            <a:r>
              <a:rPr b="1">
                <a:solidFill>
                  <a:srgbClr val="F8FAFC"/>
                </a:solidFill>
              </a:rPr>
              <a:t>💡 Live Production Deployment: </a:t>
            </a:r>
            <a:r>
              <a:rPr>
                <a:solidFill>
                  <a:srgbClr val="94A3B8"/>
                </a:solidFill>
              </a:rPr>
              <a:t>Accessible worldwide right now on any smartphone, tablet, or desktop.</a:t>
            </a:r>
          </a:p>
          <a:p>
            <a:pPr>
              <a:spcBef>
                <a:spcPts val="1000"/>
              </a:spcBef>
              <a:defRPr sz="1300" b="1">
                <a:solidFill>
                  <a:srgbClr val="F59E0B"/>
                </a:solidFill>
              </a:defRPr>
            </a:pPr>
            <a:r>
              <a:t>TRY THE LIVE DEMO NOW</a:t>
            </a:r>
          </a:p>
          <a:p>
            <a:pPr>
              <a:spcBef>
                <a:spcPts val="300"/>
              </a:spcBef>
              <a:defRPr sz="1000"/>
            </a:pPr>
            <a:r>
              <a:rPr b="1">
                <a:solidFill>
                  <a:srgbClr val="38BDF8"/>
                </a:solidFill>
              </a:rPr>
              <a:t>🔗 Web App: </a:t>
            </a:r>
            <a:r>
              <a:rPr>
                <a:solidFill>
                  <a:srgbClr val="F8FAFC"/>
                </a:solidFill>
              </a:rPr>
              <a:t>https://az900-vibe-agent.vercel.app/</a:t>
            </a:r>
          </a:p>
          <a:p>
            <a:pPr>
              <a:spcBef>
                <a:spcPts val="300"/>
              </a:spcBef>
              <a:defRPr sz="1000"/>
            </a:pPr>
            <a:r>
              <a:rPr b="1">
                <a:solidFill>
                  <a:srgbClr val="38BDF8"/>
                </a:solidFill>
              </a:rPr>
              <a:t>🔗 GitHub: </a:t>
            </a:r>
            <a:r>
              <a:rPr>
                <a:solidFill>
                  <a:srgbClr val="F8FAFC"/>
                </a:solidFill>
              </a:rPr>
              <a:t>https://github.com/ondinookello96/az900-vibe-agent</a:t>
            </a:r>
          </a:p>
        </p:txBody>
      </p:sp>
      <p:sp>
        <p:nvSpPr>
          <p:cNvPr id="8" name="Rounded Rectangle 7"/>
          <p:cNvSpPr/>
          <p:nvPr/>
        </p:nvSpPr>
        <p:spPr>
          <a:xfrm>
            <a:off x="7315200" y="1920240"/>
            <a:ext cx="4114800" cy="4297680"/>
          </a:xfrm>
          <a:prstGeom prst="roundRect">
            <a:avLst/>
          </a:prstGeom>
          <a:solidFill>
            <a:srgbClr val="151E34"/>
          </a:solidFill>
          <a:ln w="19050">
            <a:solidFill>
              <a:srgbClr val="2D41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79" y="2057400"/>
            <a:ext cx="3749039" cy="914400"/>
          </a:xfrm>
          <a:prstGeom prst="rect">
            <a:avLst/>
          </a:prstGeom>
          <a:noFill/>
        </p:spPr>
        <p:txBody>
          <a:bodyPr wrap="square">
            <a:spAutoFit/>
          </a:bodyPr>
          <a:lstStyle/>
          <a:p>
            <a:pPr algn="ctr">
              <a:defRPr sz="1500" b="1">
                <a:solidFill>
                  <a:srgbClr val="10B981"/>
                </a:solidFill>
              </a:defRPr>
            </a:pPr>
            <a:r>
              <a:t>SCAN &amp; TEST LIVE APP</a:t>
            </a:r>
          </a:p>
          <a:p>
            <a:pPr algn="ctr">
              <a:defRPr sz="1000">
                <a:solidFill>
                  <a:srgbClr val="94A3B8"/>
                </a:solidFill>
              </a:defRPr>
            </a:pPr>
            <a:r>
              <a:t>Interactive PWA On Any Device</a:t>
            </a:r>
          </a:p>
        </p:txBody>
      </p:sp>
      <p:pic>
        <p:nvPicPr>
          <p:cNvPr id="10" name="Picture 9" descr="az900_qr.png"/>
          <p:cNvPicPr>
            <a:picLocks noChangeAspect="1"/>
          </p:cNvPicPr>
          <p:nvPr/>
        </p:nvPicPr>
        <p:blipFill>
          <a:blip r:embed="rId2"/>
          <a:stretch>
            <a:fillRect/>
          </a:stretch>
        </p:blipFill>
        <p:spPr>
          <a:xfrm>
            <a:off x="8046720" y="2926080"/>
            <a:ext cx="2651760" cy="2651760"/>
          </a:xfrm>
          <a:prstGeom prst="rect">
            <a:avLst/>
          </a:prstGeom>
        </p:spPr>
      </p:pic>
      <p:sp>
        <p:nvSpPr>
          <p:cNvPr id="11" name="TextBox 10"/>
          <p:cNvSpPr txBox="1"/>
          <p:nvPr/>
        </p:nvSpPr>
        <p:spPr>
          <a:xfrm>
            <a:off x="7498079" y="5623560"/>
            <a:ext cx="3749039" cy="457200"/>
          </a:xfrm>
          <a:prstGeom prst="rect">
            <a:avLst/>
          </a:prstGeom>
          <a:noFill/>
        </p:spPr>
        <p:txBody>
          <a:bodyPr wrap="none">
            <a:spAutoFit/>
          </a:bodyPr>
          <a:lstStyle/>
          <a:p>
            <a:pPr algn="ctr">
              <a:defRPr sz="1100" b="1">
                <a:solidFill>
                  <a:srgbClr val="38BDF8"/>
                </a:solidFill>
              </a:defRPr>
            </a:pPr>
            <a:r>
              <a:t>az900-vibe-agent.vercel.app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