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judges! Like many of you in the #1MillionDevs movement, I prepared for AZ-900 and experienced the anxiety of studying blind. You spend weeks memorizing answers, but you still ask yourself: 'Am I actually ready to risk $99 on the real exam?' Traditional prep tools give you a raw test percentage with zero cognitive diagnosis. We built the tool we wished we had when we started our cloud journey.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 AfriCloud AZ-900. Instead of a static quiz app, it's an intelligent learning companion. As you see on screen, our Readiness Gauge models your probability of passing based on Microsoft's exact domain weighting. When a weakness is detected—like Azure Networking dropping below 70%—our closed-loop engine doesn't just show a red bar: it automatically schedules an offline study alert, flags a Weakness Pitstop on your roadmap, and provides targeted revision in your personal learning style.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did we build this for? For the 1 Million Devs across the African continent. For the university student in Nairobi studying on a smartphone, the junior dev in Lagos battling unpredictable internet, and the career transitioner in Kigali. By speaking their language—literally offering explanations in English, Swahili, and Pidgin—we bridge the gap between complex cloud architecture and daily African life.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Inclusion is at the core of our architecture. AfriCloud targets WCAG 2.1 AAA accessibility. Sighted or visually impaired, neurodivergent or motor-impaired—every learner has full access via offline text-to-speech read-aloud and keyboard shortcuts. Furthermore, our cognitive tracking engine is completely modular: the same code that powers AZ-900 today can power AWS Cloud Practitioner, Google Cloud Leader, or advanced Azure certifications tomorrow.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AfriCloud AZ-900 in under 48 hours using the full power of modern vibe coding—Vite, Tailwind CSS, Service Workers, and Gemini AI. The code is open source, production-built, and running live. We invite all the judges and fellow 1M Devs learners to scan the QR code, take a 1-minute vibe quiz, and experience the future of adaptive certification prep. Let's vibe code for learning!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206240" cy="320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latin typeface="Segoe UI"/>
              </a:defRPr>
            </a:pPr>
            <a:r>
              <a:t>VIBE CODING HACKATHON 2026  |  TRACK: 📊 READINESS TRACKER</a:t>
            </a:r>
          </a:p>
        </p:txBody>
      </p:sp>
      <p:sp>
        <p:nvSpPr>
          <p:cNvPr id="4" name="TextBox 3"/>
          <p:cNvSpPr txBox="1"/>
          <p:nvPr/>
        </p:nvSpPr>
        <p:spPr>
          <a:xfrm>
            <a:off x="731520" y="749808"/>
            <a:ext cx="10698480" cy="594360"/>
          </a:xfrm>
          <a:prstGeom prst="rect">
            <a:avLst/>
          </a:prstGeom>
          <a:noFill/>
        </p:spPr>
        <p:txBody>
          <a:bodyPr wrap="square">
            <a:spAutoFit/>
          </a:bodyPr>
          <a:lstStyle/>
          <a:p>
            <a:pPr>
              <a:defRPr sz="2400" b="1">
                <a:solidFill>
                  <a:srgbClr val="F8FAFC"/>
                </a:solidFill>
                <a:latin typeface="Segoe UI"/>
              </a:defRPr>
            </a:pPr>
            <a:r>
              <a:t>AfriCloud AZ-900: Cognitive Readiness &amp; Adaptive Coach</a:t>
            </a:r>
          </a:p>
        </p:txBody>
      </p:sp>
      <p:sp>
        <p:nvSpPr>
          <p:cNvPr id="5" name="TextBox 4"/>
          <p:cNvSpPr txBox="1"/>
          <p:nvPr/>
        </p:nvSpPr>
        <p:spPr>
          <a:xfrm>
            <a:off x="731520" y="1325880"/>
            <a:ext cx="10698480" cy="411480"/>
          </a:xfrm>
          <a:prstGeom prst="rect">
            <a:avLst/>
          </a:prstGeom>
          <a:noFill/>
        </p:spPr>
        <p:txBody>
          <a:bodyPr wrap="square">
            <a:spAutoFit/>
          </a:bodyPr>
          <a:lstStyle/>
          <a:p>
            <a:pPr>
              <a:defRPr sz="1300" i="1">
                <a:solidFill>
                  <a:srgbClr val="F59E0B"/>
                </a:solidFill>
                <a:latin typeface="Segoe UI"/>
              </a:defRPr>
            </a:pPr>
            <a:r>
              <a:t>Turning Abstract Cloud Jargon into Confident Exam Readiness for Africa's Next 1 Million Developers</a:t>
            </a:r>
          </a:p>
        </p:txBody>
      </p:sp>
      <p:sp>
        <p:nvSpPr>
          <p:cNvPr id="6" name="Rounded Rectangle 5"/>
          <p:cNvSpPr/>
          <p:nvPr/>
        </p:nvSpPr>
        <p:spPr>
          <a:xfrm>
            <a:off x="731520" y="1920240"/>
            <a:ext cx="5120640" cy="4114800"/>
          </a:xfrm>
          <a:prstGeom prst="roundRect">
            <a:avLst/>
          </a:prstGeom>
          <a:solidFill>
            <a:srgbClr val="151E34"/>
          </a:solidFill>
          <a:ln w="19050">
            <a:solidFill>
              <a:srgbClr val="2D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03120"/>
            <a:ext cx="4754880" cy="3749039"/>
          </a:xfrm>
          <a:prstGeom prst="rect">
            <a:avLst/>
          </a:prstGeom>
          <a:noFill/>
        </p:spPr>
        <p:txBody>
          <a:bodyPr wrap="square">
            <a:spAutoFit/>
          </a:bodyPr>
          <a:lstStyle/>
          <a:p>
            <a:pPr>
              <a:defRPr sz="1600" b="1">
                <a:solidFill>
                  <a:srgbClr val="F87171"/>
                </a:solidFill>
                <a:latin typeface="Segoe UI"/>
              </a:defRPr>
            </a:pPr>
            <a:r>
              <a:t>THE BARRIER: STUDYING BLIND</a:t>
            </a:r>
          </a:p>
          <a:p>
            <a:pPr>
              <a:spcBef>
                <a:spcPts val="1000"/>
              </a:spcBef>
              <a:defRPr sz="1200">
                <a:latin typeface="Segoe UI"/>
              </a:defRPr>
            </a:pPr>
            <a:r>
              <a:rPr b="1">
                <a:solidFill>
                  <a:srgbClr val="F8FAFC"/>
                </a:solidFill>
              </a:rPr>
              <a:t>• High-Stakes Anxiety: </a:t>
            </a:r>
            <a:r>
              <a:rPr>
                <a:solidFill>
                  <a:srgbClr val="94A3B8"/>
                </a:solidFill>
              </a:rPr>
              <a:t>$99 certification vouchers expiring in 14 days; learners memorize dumps without knowing if they will pass.</a:t>
            </a:r>
          </a:p>
          <a:p>
            <a:pPr>
              <a:spcBef>
                <a:spcPts val="1000"/>
              </a:spcBef>
              <a:defRPr sz="1200">
                <a:latin typeface="Segoe UI"/>
              </a:defRPr>
            </a:pPr>
            <a:r>
              <a:rPr b="1">
                <a:solidFill>
                  <a:srgbClr val="F8FAFC"/>
                </a:solidFill>
              </a:rPr>
              <a:t>• The 700/1000 Threshold: </a:t>
            </a:r>
            <a:r>
              <a:rPr>
                <a:solidFill>
                  <a:srgbClr val="94A3B8"/>
                </a:solidFill>
              </a:rPr>
              <a:t>AZ-900 requires 70% weighted mastery across 3 distinct domains, not a flat test percentage.</a:t>
            </a:r>
          </a:p>
          <a:p>
            <a:pPr>
              <a:spcBef>
                <a:spcPts val="1000"/>
              </a:spcBef>
              <a:defRPr sz="1200">
                <a:latin typeface="Segoe UI"/>
              </a:defRPr>
            </a:pPr>
            <a:r>
              <a:rPr b="1">
                <a:solidFill>
                  <a:srgbClr val="F8FAFC"/>
                </a:solidFill>
              </a:rPr>
              <a:t>• Disconnected Mental Models: </a:t>
            </a:r>
            <a:r>
              <a:rPr>
                <a:solidFill>
                  <a:srgbClr val="94A3B8"/>
                </a:solidFill>
              </a:rPr>
              <a:t>Abstract US/EU enterprise analogies (e.g. Wall Street banks) fail to anchor in the daily realities of African students.</a:t>
            </a:r>
          </a:p>
          <a:p>
            <a:pPr>
              <a:spcBef>
                <a:spcPts val="1000"/>
              </a:spcBef>
              <a:defRPr sz="1200">
                <a:latin typeface="Segoe UI"/>
              </a:defRPr>
            </a:pPr>
            <a:r>
              <a:rPr b="1">
                <a:solidFill>
                  <a:srgbClr val="F8FAFC"/>
                </a:solidFill>
              </a:rPr>
              <a:t>• The 'Blind Spot' Trap: </a:t>
            </a:r>
            <a:r>
              <a:rPr>
                <a:solidFill>
                  <a:srgbClr val="94A3B8"/>
                </a:solidFill>
              </a:rPr>
              <a:t>Students spend 80% of their revision time on concepts they already know, completely neglecting silent weak points.</a:t>
            </a:r>
          </a:p>
        </p:txBody>
      </p:sp>
      <p:sp>
        <p:nvSpPr>
          <p:cNvPr id="8" name="Rounded Rectangle 7"/>
          <p:cNvSpPr/>
          <p:nvPr/>
        </p:nvSpPr>
        <p:spPr>
          <a:xfrm>
            <a:off x="6217920" y="1920240"/>
            <a:ext cx="5212080" cy="4114800"/>
          </a:xfrm>
          <a:prstGeom prst="roundRect">
            <a:avLst/>
          </a:prstGeom>
          <a:solidFill>
            <a:srgbClr val="151E34"/>
          </a:solidFill>
          <a:ln w="19050">
            <a:solidFill>
              <a:srgbClr val="2D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2103120"/>
            <a:ext cx="4846320" cy="3749039"/>
          </a:xfrm>
          <a:prstGeom prst="rect">
            <a:avLst/>
          </a:prstGeom>
          <a:noFill/>
        </p:spPr>
        <p:txBody>
          <a:bodyPr wrap="square">
            <a:spAutoFit/>
          </a:bodyPr>
          <a:lstStyle/>
          <a:p>
            <a:pPr>
              <a:defRPr sz="1600" b="1">
                <a:solidFill>
                  <a:srgbClr val="38BDF8"/>
                </a:solidFill>
                <a:latin typeface="Segoe UI"/>
              </a:defRPr>
            </a:pPr>
            <a:r>
              <a:t>THE 3 SILENT LEARNING BLINDSPOTS</a:t>
            </a:r>
          </a:p>
          <a:p>
            <a:pPr>
              <a:spcBef>
                <a:spcPts val="1200"/>
              </a:spcBef>
              <a:defRPr sz="1200">
                <a:latin typeface="Segoe UI"/>
              </a:defRPr>
            </a:pPr>
            <a:r>
              <a:rPr b="1">
                <a:solidFill>
                  <a:srgbClr val="F59E0B"/>
                </a:solidFill>
              </a:rPr>
              <a:t>⚠️ 1. Jargon Overload: </a:t>
            </a:r>
            <a:r>
              <a:rPr>
                <a:solidFill>
                  <a:srgbClr val="94A3B8"/>
                </a:solidFill>
              </a:rPr>
              <a:t>Terms like 'Availability Zones', 'IaaS vs PaaS', and 'Blob Archive Rehydration' feel completely alien without contextual hooks.</a:t>
            </a:r>
          </a:p>
          <a:p>
            <a:pPr>
              <a:spcBef>
                <a:spcPts val="1200"/>
              </a:spcBef>
              <a:defRPr sz="1200">
                <a:latin typeface="Segoe UI"/>
              </a:defRPr>
            </a:pPr>
            <a:r>
              <a:rPr b="1">
                <a:solidFill>
                  <a:srgbClr val="F59E0B"/>
                </a:solidFill>
              </a:rPr>
              <a:t>⚠️ 2. The 'Why Is This Wrong?' Gap: </a:t>
            </a:r>
            <a:r>
              <a:rPr>
                <a:solidFill>
                  <a:srgbClr val="94A3B8"/>
                </a:solidFill>
              </a:rPr>
              <a:t>Standard mock tests tell you option 'A' is correct, but leave you guessing why options 'B, C, and D' fail. Real exam questions test edge cases.</a:t>
            </a:r>
          </a:p>
          <a:p>
            <a:pPr>
              <a:spcBef>
                <a:spcPts val="1200"/>
              </a:spcBef>
              <a:defRPr sz="1200">
                <a:latin typeface="Segoe UI"/>
              </a:defRPr>
            </a:pPr>
            <a:r>
              <a:rPr b="1">
                <a:solidFill>
                  <a:srgbClr val="F59E0B"/>
                </a:solidFill>
              </a:rPr>
              <a:t>⚠️ 3. The Static Percentage Illusion: </a:t>
            </a:r>
            <a:r>
              <a:rPr>
                <a:solidFill>
                  <a:srgbClr val="94A3B8"/>
                </a:solidFill>
              </a:rPr>
              <a:t>Scoring 80% on 10 random questions != passing the actual exam. Without domain weighting, students walk into Pearson VUE unprepared.</a:t>
            </a:r>
          </a:p>
        </p:txBody>
      </p:sp>
      <p:sp>
        <p:nvSpPr>
          <p:cNvPr id="10" name="TextBox 9"/>
          <p:cNvSpPr txBox="1"/>
          <p:nvPr/>
        </p:nvSpPr>
        <p:spPr>
          <a:xfrm>
            <a:off x="731520" y="6217920"/>
            <a:ext cx="10698480" cy="365760"/>
          </a:xfrm>
          <a:prstGeom prst="rect">
            <a:avLst/>
          </a:prstGeom>
          <a:noFill/>
        </p:spPr>
        <p:txBody>
          <a:bodyPr wrap="none">
            <a:spAutoFit/>
          </a:bodyPr>
          <a:lstStyle/>
          <a:p>
            <a:pPr algn="ctr">
              <a:defRPr sz="1000" i="1">
                <a:solidFill>
                  <a:srgbClr val="94A3B8"/>
                </a:solidFill>
                <a:latin typeface="Segoe UI"/>
              </a:defRPr>
            </a:pPr>
            <a:r>
              <a:t>🛡️ Community Built for #1MillionDevs | Strictly Unofficial Study Companion Aligned with Public Microsoft Learn Guidelines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206240" cy="320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latin typeface="Segoe UI"/>
              </a:defRPr>
            </a:pPr>
            <a:r>
              <a:t>SOLUTION ARCHITECTURE &amp; LIVE PRODUCT DEMO  |  RUBRIC: 25 PTS</a:t>
            </a:r>
          </a:p>
        </p:txBody>
      </p:sp>
      <p:sp>
        <p:nvSpPr>
          <p:cNvPr id="4" name="TextBox 3"/>
          <p:cNvSpPr txBox="1"/>
          <p:nvPr/>
        </p:nvSpPr>
        <p:spPr>
          <a:xfrm>
            <a:off x="731520" y="749808"/>
            <a:ext cx="10698480" cy="594360"/>
          </a:xfrm>
          <a:prstGeom prst="rect">
            <a:avLst/>
          </a:prstGeom>
          <a:noFill/>
        </p:spPr>
        <p:txBody>
          <a:bodyPr wrap="square">
            <a:spAutoFit/>
          </a:bodyPr>
          <a:lstStyle/>
          <a:p>
            <a:pPr>
              <a:defRPr sz="2400" b="1">
                <a:solidFill>
                  <a:srgbClr val="F8FAFC"/>
                </a:solidFill>
                <a:latin typeface="Segoe UI"/>
              </a:defRPr>
            </a:pPr>
            <a:r>
              <a:t>The Cognitive Readiness Engine &amp; Progressive Mastery Loop</a:t>
            </a:r>
          </a:p>
        </p:txBody>
      </p:sp>
      <p:sp>
        <p:nvSpPr>
          <p:cNvPr id="5" name="TextBox 4"/>
          <p:cNvSpPr txBox="1"/>
          <p:nvPr/>
        </p:nvSpPr>
        <p:spPr>
          <a:xfrm>
            <a:off x="731520" y="1325880"/>
            <a:ext cx="10698480" cy="411480"/>
          </a:xfrm>
          <a:prstGeom prst="rect">
            <a:avLst/>
          </a:prstGeom>
          <a:noFill/>
        </p:spPr>
        <p:txBody>
          <a:bodyPr wrap="square">
            <a:spAutoFit/>
          </a:bodyPr>
          <a:lstStyle/>
          <a:p>
            <a:pPr>
              <a:defRPr sz="1300" i="1">
                <a:solidFill>
                  <a:srgbClr val="F59E0B"/>
                </a:solidFill>
                <a:latin typeface="Segoe UI"/>
              </a:defRPr>
            </a:pPr>
            <a:r>
              <a:t>Real-Time Weighted Exam Modeling With Automated Weak Area Pitstops</a:t>
            </a:r>
          </a:p>
        </p:txBody>
      </p:sp>
      <p:sp>
        <p:nvSpPr>
          <p:cNvPr id="6" name="Rounded Rectangle 5"/>
          <p:cNvSpPr/>
          <p:nvPr/>
        </p:nvSpPr>
        <p:spPr>
          <a:xfrm>
            <a:off x="731520" y="1920240"/>
            <a:ext cx="3383280" cy="4297680"/>
          </a:xfrm>
          <a:prstGeom prst="roundRect">
            <a:avLst/>
          </a:prstGeom>
          <a:solidFill>
            <a:srgbClr val="151E34"/>
          </a:solidFill>
          <a:ln w="19050">
            <a:solidFill>
              <a:srgbClr val="2D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103120"/>
            <a:ext cx="3108960" cy="3931920"/>
          </a:xfrm>
          <a:prstGeom prst="rect">
            <a:avLst/>
          </a:prstGeom>
          <a:noFill/>
        </p:spPr>
        <p:txBody>
          <a:bodyPr wrap="square">
            <a:spAutoFit/>
          </a:bodyPr>
          <a:lstStyle/>
          <a:p>
            <a:pPr>
              <a:defRPr sz="1400" b="1">
                <a:solidFill>
                  <a:srgbClr val="38BDF8"/>
                </a:solidFill>
              </a:defRPr>
            </a:pPr>
            <a:r>
              <a:t>1. MULTI-SIGNAL READINESS</a:t>
            </a:r>
          </a:p>
          <a:p>
            <a:pPr>
              <a:spcBef>
                <a:spcPts val="800"/>
              </a:spcBef>
              <a:defRPr sz="1100" b="1">
                <a:solidFill>
                  <a:srgbClr val="F8FAFC"/>
                </a:solidFill>
              </a:defRPr>
            </a:pPr>
            <a:r>
              <a:t>Mathematical Syllabus Weighting:</a:t>
            </a:r>
          </a:p>
          <a:p>
            <a:pPr>
              <a:spcBef>
                <a:spcPts val="400"/>
              </a:spcBef>
              <a:defRPr sz="1100" b="1">
                <a:solidFill>
                  <a:srgbClr val="F59E0B"/>
                </a:solidFill>
              </a:defRPr>
            </a:pPr>
            <a:r>
              <a:t>R_exam = 27.5% · Concepts</a:t>
            </a:r>
            <a:br/>
            <a:r>
              <a:t>       + 37.5% · Architecture</a:t>
            </a:r>
            <a:br/>
            <a:r>
              <a:t>       + 35.0% · Governance</a:t>
            </a:r>
          </a:p>
          <a:p>
            <a:pPr>
              <a:spcBef>
                <a:spcPts val="800"/>
              </a:spcBef>
              <a:defRPr sz="1050"/>
            </a:pPr>
            <a:r>
              <a:rPr b="1">
                <a:solidFill>
                  <a:srgbClr val="F8FAFC"/>
                </a:solidFill>
              </a:rPr>
              <a:t>• Dynamic Passing Probability: </a:t>
            </a:r>
            <a:r>
              <a:rPr>
                <a:solidFill>
                  <a:srgbClr val="94A3B8"/>
                </a:solidFill>
              </a:rPr>
              <a:t>Calibrates test-readiness vs. the official 700/1000 passing mark.</a:t>
            </a:r>
          </a:p>
          <a:p>
            <a:pPr>
              <a:spcBef>
                <a:spcPts val="800"/>
              </a:spcBef>
              <a:defRPr sz="1050"/>
            </a:pPr>
            <a:r>
              <a:rPr b="1">
                <a:solidFill>
                  <a:srgbClr val="F8FAFC"/>
                </a:solidFill>
              </a:rPr>
              <a:t>• Weakness Radar (&lt;70%): </a:t>
            </a:r>
            <a:r>
              <a:rPr>
                <a:solidFill>
                  <a:srgbClr val="94A3B8"/>
                </a:solidFill>
              </a:rPr>
              <a:t>Instantly identifies failing subtopics (e.g. Azure Networking at 0%).</a:t>
            </a:r>
          </a:p>
          <a:p>
            <a:pPr>
              <a:spcBef>
                <a:spcPts val="800"/>
              </a:spcBef>
              <a:defRPr sz="1050"/>
            </a:pPr>
            <a:r>
              <a:rPr b="1">
                <a:solidFill>
                  <a:srgbClr val="F8FAFC"/>
                </a:solidFill>
              </a:rPr>
              <a:t>• Baseline Self-Assessment: </a:t>
            </a:r>
            <a:r>
              <a:rPr>
                <a:solidFill>
                  <a:srgbClr val="94A3B8"/>
                </a:solidFill>
              </a:rPr>
              <a:t>30-second onboarding diagnostic immediately tailors initial path.</a:t>
            </a:r>
          </a:p>
        </p:txBody>
      </p:sp>
      <p:sp>
        <p:nvSpPr>
          <p:cNvPr id="8" name="Rounded Rectangle 7"/>
          <p:cNvSpPr/>
          <p:nvPr/>
        </p:nvSpPr>
        <p:spPr>
          <a:xfrm>
            <a:off x="4389120" y="1920240"/>
            <a:ext cx="3383280" cy="4297680"/>
          </a:xfrm>
          <a:prstGeom prst="roundRect">
            <a:avLst/>
          </a:prstGeom>
          <a:solidFill>
            <a:srgbClr val="151E34"/>
          </a:solidFill>
          <a:ln w="19050">
            <a:solidFill>
              <a:srgbClr val="2D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103120"/>
            <a:ext cx="3108960" cy="3931920"/>
          </a:xfrm>
          <a:prstGeom prst="rect">
            <a:avLst/>
          </a:prstGeom>
          <a:noFill/>
        </p:spPr>
        <p:txBody>
          <a:bodyPr wrap="square">
            <a:spAutoFit/>
          </a:bodyPr>
          <a:lstStyle/>
          <a:p>
            <a:pPr>
              <a:defRPr sz="1400" b="1">
                <a:solidFill>
                  <a:srgbClr val="10B981"/>
                </a:solidFill>
              </a:defRPr>
            </a:pPr>
            <a:r>
              <a:t>2. PROGRESSIVE MASTER LOOP</a:t>
            </a:r>
          </a:p>
          <a:p>
            <a:pPr>
              <a:spcBef>
                <a:spcPts val="800"/>
              </a:spcBef>
              <a:defRPr sz="1050"/>
            </a:pPr>
            <a:r>
              <a:rPr b="1">
                <a:solidFill>
                  <a:srgbClr val="F59E0B"/>
                </a:solidFill>
              </a:rPr>
              <a:t>✓ Step 1: Explore &amp; Learn
</a:t>
            </a:r>
            <a:r>
              <a:rPr>
                <a:solidFill>
                  <a:srgbClr val="94A3B8"/>
                </a:solidFill>
              </a:rPr>
              <a:t>Personalized to learning style (Visual architecture diagram, African analogy, or Kinesthetic CLI command).</a:t>
            </a:r>
          </a:p>
          <a:p>
            <a:pPr>
              <a:spcBef>
                <a:spcPts val="800"/>
              </a:spcBef>
              <a:defRPr sz="1050"/>
            </a:pPr>
            <a:r>
              <a:rPr b="1">
                <a:solidFill>
                  <a:srgbClr val="F59E0B"/>
                </a:solidFill>
              </a:rPr>
              <a:t>✓ Step 2: Practice Checkpoint
</a:t>
            </a:r>
            <a:r>
              <a:rPr>
                <a:solidFill>
                  <a:srgbClr val="94A3B8"/>
                </a:solidFill>
              </a:rPr>
              <a:t>Scenario questions with instant distractor feedback explaining exactly WHY the other 3 choices fail.</a:t>
            </a:r>
          </a:p>
          <a:p>
            <a:pPr>
              <a:spcBef>
                <a:spcPts val="800"/>
              </a:spcBef>
              <a:defRPr sz="1050"/>
            </a:pPr>
            <a:r>
              <a:rPr b="1">
                <a:solidFill>
                  <a:srgbClr val="F59E0B"/>
                </a:solidFill>
              </a:rPr>
              <a:t>✓ Step 3: Memory Lock
</a:t>
            </a:r>
            <a:r>
              <a:rPr>
                <a:solidFill>
                  <a:srgbClr val="94A3B8"/>
                </a:solidFill>
              </a:rPr>
              <a:t>Active recall spaced-repetition flashcards lock in key concepts.</a:t>
            </a:r>
          </a:p>
          <a:p>
            <a:pPr>
              <a:spcBef>
                <a:spcPts val="800"/>
              </a:spcBef>
              <a:defRPr sz="1050"/>
            </a:pPr>
            <a:r>
              <a:rPr b="1">
                <a:solidFill>
                  <a:srgbClr val="F59E0B"/>
                </a:solidFill>
              </a:rPr>
              <a:t>✓ Step 4: Weakness Pitstop
</a:t>
            </a:r>
            <a:r>
              <a:rPr>
                <a:solidFill>
                  <a:srgbClr val="94A3B8"/>
                </a:solidFill>
              </a:rPr>
              <a:t>Closed loop automatically inserts remedial missions for any subtopic scoring below 70%.</a:t>
            </a:r>
          </a:p>
        </p:txBody>
      </p:sp>
      <p:sp>
        <p:nvSpPr>
          <p:cNvPr id="10" name="Rounded Rectangle 9"/>
          <p:cNvSpPr/>
          <p:nvPr/>
        </p:nvSpPr>
        <p:spPr>
          <a:xfrm>
            <a:off x="8046720" y="1920240"/>
            <a:ext cx="3383280" cy="4297680"/>
          </a:xfrm>
          <a:prstGeom prst="roundRect">
            <a:avLst/>
          </a:prstGeom>
          <a:solidFill>
            <a:srgbClr val="151E34"/>
          </a:solidFill>
          <a:ln w="19050">
            <a:solidFill>
              <a:srgbClr val="2D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80" y="2103120"/>
            <a:ext cx="3108960" cy="3931920"/>
          </a:xfrm>
          <a:prstGeom prst="rect">
            <a:avLst/>
          </a:prstGeom>
          <a:noFill/>
        </p:spPr>
        <p:txBody>
          <a:bodyPr wrap="square">
            <a:spAutoFit/>
          </a:bodyPr>
          <a:lstStyle/>
          <a:p>
            <a:pPr>
              <a:defRPr sz="1400" b="1">
                <a:solidFill>
                  <a:srgbClr val="F59E0B"/>
                </a:solidFill>
              </a:defRPr>
            </a:pPr>
            <a:r>
              <a:t>3. OFFLINE PWA &amp; SMART SPRINT</a:t>
            </a:r>
          </a:p>
          <a:p>
            <a:pPr>
              <a:spcBef>
                <a:spcPts val="800"/>
              </a:spcBef>
              <a:defRPr sz="1050"/>
            </a:pPr>
            <a:r>
              <a:rPr b="1">
                <a:solidFill>
                  <a:srgbClr val="F8FAFC"/>
                </a:solidFill>
              </a:rPr>
              <a:t>⚡ Zero-Data Service Worker: </a:t>
            </a:r>
            <a:r>
              <a:rPr>
                <a:solidFill>
                  <a:srgbClr val="94A3B8"/>
                </a:solidFill>
              </a:rPr>
              <a:t>Runs 100% client-side via sw.js. Works in airplane mode or during load-shedding blackouts.</a:t>
            </a:r>
          </a:p>
          <a:p>
            <a:pPr>
              <a:spcBef>
                <a:spcPts val="800"/>
              </a:spcBef>
              <a:defRPr sz="1050"/>
            </a:pPr>
            <a:r>
              <a:rPr b="1">
                <a:solidFill>
                  <a:srgbClr val="F8FAFC"/>
                </a:solidFill>
              </a:rPr>
              <a:t>⚡ Background Revision Alarm: </a:t>
            </a:r>
            <a:r>
              <a:rPr>
                <a:solidFill>
                  <a:srgbClr val="94A3B8"/>
                </a:solidFill>
              </a:rPr>
              <a:t>Schedules offline browser study reminders that trigger even when internet is disconnected.</a:t>
            </a:r>
          </a:p>
          <a:p>
            <a:pPr>
              <a:spcBef>
                <a:spcPts val="800"/>
              </a:spcBef>
              <a:defRPr sz="1050"/>
            </a:pPr>
            <a:r>
              <a:rPr b="1">
                <a:solidFill>
                  <a:srgbClr val="F8FAFC"/>
                </a:solidFill>
              </a:rPr>
              <a:t>⚡ Adaptive Sprint Planner: </a:t>
            </a:r>
            <a:r>
              <a:rPr>
                <a:solidFill>
                  <a:srgbClr val="94A3B8"/>
                </a:solidFill>
              </a:rPr>
              <a:t>Calculates daily study minutes needed based on target exam date and current readiness score.</a:t>
            </a:r>
          </a:p>
          <a:p>
            <a:pPr>
              <a:spcBef>
                <a:spcPts val="800"/>
              </a:spcBef>
              <a:defRPr sz="1050"/>
            </a:pPr>
            <a:r>
              <a:rPr b="1">
                <a:solidFill>
                  <a:srgbClr val="F8FAFC"/>
                </a:solidFill>
              </a:rPr>
              <a:t>⚡ Persistent Local Storage: </a:t>
            </a:r>
            <a:r>
              <a:rPr>
                <a:solidFill>
                  <a:srgbClr val="94A3B8"/>
                </a:solidFill>
              </a:rPr>
              <a:t>Progress, quiz answers, and flashcard masteries are preserved securely with zero login friction.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206240" cy="320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latin typeface="Segoe UI"/>
              </a:defRPr>
            </a:pPr>
            <a:r>
              <a:t>TARGET USERS &amp; LOCALIZED PEDAGOGY  |  RUBRIC: 15 PTS</a:t>
            </a:r>
          </a:p>
        </p:txBody>
      </p:sp>
      <p:sp>
        <p:nvSpPr>
          <p:cNvPr id="4" name="TextBox 3"/>
          <p:cNvSpPr txBox="1"/>
          <p:nvPr/>
        </p:nvSpPr>
        <p:spPr>
          <a:xfrm>
            <a:off x="731520" y="749808"/>
            <a:ext cx="10698480" cy="594360"/>
          </a:xfrm>
          <a:prstGeom prst="rect">
            <a:avLst/>
          </a:prstGeom>
          <a:noFill/>
        </p:spPr>
        <p:txBody>
          <a:bodyPr wrap="square">
            <a:spAutoFit/>
          </a:bodyPr>
          <a:lstStyle/>
          <a:p>
            <a:pPr>
              <a:defRPr sz="2400" b="1">
                <a:solidFill>
                  <a:srgbClr val="F8FAFC"/>
                </a:solidFill>
                <a:latin typeface="Segoe UI"/>
              </a:defRPr>
            </a:pPr>
            <a:r>
              <a:t>Designed for the Real Realities of 1 Million African Developers</a:t>
            </a:r>
          </a:p>
        </p:txBody>
      </p:sp>
      <p:sp>
        <p:nvSpPr>
          <p:cNvPr id="5" name="TextBox 4"/>
          <p:cNvSpPr txBox="1"/>
          <p:nvPr/>
        </p:nvSpPr>
        <p:spPr>
          <a:xfrm>
            <a:off x="731520" y="1325880"/>
            <a:ext cx="10698480" cy="411480"/>
          </a:xfrm>
          <a:prstGeom prst="rect">
            <a:avLst/>
          </a:prstGeom>
          <a:noFill/>
        </p:spPr>
        <p:txBody>
          <a:bodyPr wrap="square">
            <a:spAutoFit/>
          </a:bodyPr>
          <a:lstStyle/>
          <a:p>
            <a:pPr>
              <a:defRPr sz="1300" i="1">
                <a:solidFill>
                  <a:srgbClr val="F59E0B"/>
                </a:solidFill>
                <a:latin typeface="Segoe UI"/>
              </a:defRPr>
            </a:pPr>
            <a:r>
              <a:t>Bridging High-Tech Cloud Concepts With Relatable Mental Models &amp; Multilingual Context</a:t>
            </a:r>
          </a:p>
        </p:txBody>
      </p:sp>
      <p:sp>
        <p:nvSpPr>
          <p:cNvPr id="6" name="Rounded Rectangle 5"/>
          <p:cNvSpPr/>
          <p:nvPr/>
        </p:nvSpPr>
        <p:spPr>
          <a:xfrm>
            <a:off x="731520" y="1920240"/>
            <a:ext cx="3383280" cy="3200400"/>
          </a:xfrm>
          <a:prstGeom prst="roundRect">
            <a:avLst/>
          </a:prstGeom>
          <a:solidFill>
            <a:srgbClr val="151E34"/>
          </a:solidFill>
          <a:ln w="19050">
            <a:solidFill>
              <a:srgbClr val="2D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57400"/>
            <a:ext cx="3108960" cy="2926080"/>
          </a:xfrm>
          <a:prstGeom prst="rect">
            <a:avLst/>
          </a:prstGeom>
          <a:noFill/>
        </p:spPr>
        <p:txBody>
          <a:bodyPr wrap="square">
            <a:spAutoFit/>
          </a:bodyPr>
          <a:lstStyle/>
          <a:p>
            <a:pPr>
              <a:defRPr sz="1300" b="1">
                <a:solidFill>
                  <a:srgbClr val="38BDF8"/>
                </a:solidFill>
              </a:defRPr>
            </a:pPr>
            <a:r>
              <a:t>Amina (University Student)</a:t>
            </a:r>
          </a:p>
          <a:p>
            <a:pPr>
              <a:defRPr sz="1000">
                <a:solidFill>
                  <a:srgbClr val="94A3B8"/>
                </a:solidFill>
              </a:defRPr>
            </a:pPr>
            <a:r>
              <a:t>📍 Nairobi, Kenya</a:t>
            </a:r>
          </a:p>
          <a:p>
            <a:pPr>
              <a:spcBef>
                <a:spcPts val="600"/>
              </a:spcBef>
              <a:defRPr sz="1000"/>
            </a:pPr>
            <a:r>
              <a:rPr b="1">
                <a:solidFill>
                  <a:srgbClr val="F8FAFC"/>
                </a:solidFill>
              </a:rPr>
              <a:t>Challenge: </a:t>
            </a:r>
            <a:r>
              <a:rPr>
                <a:solidFill>
                  <a:srgbClr val="94A3B8"/>
                </a:solidFill>
              </a:rPr>
              <a:t>Studying for first cloud credential on mobile phone. US corporate banking analogies felt abstract.</a:t>
            </a:r>
          </a:p>
          <a:p>
            <a:pPr>
              <a:spcBef>
                <a:spcPts val="600"/>
              </a:spcBef>
              <a:defRPr sz="1000"/>
            </a:pPr>
            <a:r>
              <a:rPr b="1">
                <a:solidFill>
                  <a:srgbClr val="F8FAFC"/>
                </a:solidFill>
              </a:rPr>
              <a:t>The Hook: </a:t>
            </a:r>
            <a:r>
              <a:rPr>
                <a:solidFill>
                  <a:srgbClr val="94A3B8"/>
                </a:solidFill>
              </a:rPr>
              <a:t>Understood High Availability through M-Pesa multi-agent float balancing and redundancy across regions.</a:t>
            </a:r>
          </a:p>
          <a:p>
            <a:pPr>
              <a:spcBef>
                <a:spcPts val="600"/>
              </a:spcBef>
              <a:defRPr sz="1000"/>
            </a:pPr>
            <a:r>
              <a:rPr b="1">
                <a:solidFill>
                  <a:srgbClr val="F8FAFC"/>
                </a:solidFill>
              </a:rPr>
              <a:t>Outcome: </a:t>
            </a:r>
            <a:r>
              <a:rPr>
                <a:solidFill>
                  <a:srgbClr val="94A3B8"/>
                </a:solidFill>
              </a:rPr>
              <a:t>Passed diagnostic checkpoint in 12 minutes.</a:t>
            </a:r>
          </a:p>
        </p:txBody>
      </p:sp>
      <p:sp>
        <p:nvSpPr>
          <p:cNvPr id="8" name="Rounded Rectangle 7"/>
          <p:cNvSpPr/>
          <p:nvPr/>
        </p:nvSpPr>
        <p:spPr>
          <a:xfrm>
            <a:off x="4389120" y="1920240"/>
            <a:ext cx="3383280" cy="3200400"/>
          </a:xfrm>
          <a:prstGeom prst="roundRect">
            <a:avLst/>
          </a:prstGeom>
          <a:solidFill>
            <a:srgbClr val="151E34"/>
          </a:solidFill>
          <a:ln w="19050">
            <a:solidFill>
              <a:srgbClr val="2D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057400"/>
            <a:ext cx="3108960" cy="2926080"/>
          </a:xfrm>
          <a:prstGeom prst="rect">
            <a:avLst/>
          </a:prstGeom>
          <a:noFill/>
        </p:spPr>
        <p:txBody>
          <a:bodyPr wrap="square">
            <a:spAutoFit/>
          </a:bodyPr>
          <a:lstStyle/>
          <a:p>
            <a:pPr>
              <a:defRPr sz="1300" b="1">
                <a:solidFill>
                  <a:srgbClr val="F59E0B"/>
                </a:solidFill>
              </a:defRPr>
            </a:pPr>
            <a:r>
              <a:t>Tunde (Junior Developer)</a:t>
            </a:r>
          </a:p>
          <a:p>
            <a:pPr>
              <a:defRPr sz="1000">
                <a:solidFill>
                  <a:srgbClr val="94A3B8"/>
                </a:solidFill>
              </a:defRPr>
            </a:pPr>
            <a:r>
              <a:t>📍 Lagos, Nigeria</a:t>
            </a:r>
          </a:p>
          <a:p>
            <a:pPr>
              <a:spcBef>
                <a:spcPts val="600"/>
              </a:spcBef>
              <a:defRPr sz="1000"/>
            </a:pPr>
            <a:r>
              <a:rPr b="1">
                <a:solidFill>
                  <a:srgbClr val="F8FAFC"/>
                </a:solidFill>
              </a:rPr>
              <a:t>Challenge: </a:t>
            </a:r>
            <a:r>
              <a:rPr>
                <a:solidFill>
                  <a:srgbClr val="94A3B8"/>
                </a:solidFill>
              </a:rPr>
              <a:t>Frequent power outages &amp; expensive mobile data bundles. Cloud simulators freeze when offline.</a:t>
            </a:r>
          </a:p>
          <a:p>
            <a:pPr>
              <a:spcBef>
                <a:spcPts val="600"/>
              </a:spcBef>
              <a:defRPr sz="1000"/>
            </a:pPr>
            <a:r>
              <a:rPr b="1">
                <a:solidFill>
                  <a:srgbClr val="F8FAFC"/>
                </a:solidFill>
              </a:rPr>
              <a:t>The Hook: </a:t>
            </a:r>
            <a:r>
              <a:rPr>
                <a:solidFill>
                  <a:srgbClr val="94A3B8"/>
                </a:solidFill>
              </a:rPr>
              <a:t>Studies 100% offline via PWA caching; receives background notifications when it's time to review.</a:t>
            </a:r>
          </a:p>
          <a:p>
            <a:pPr>
              <a:spcBef>
                <a:spcPts val="600"/>
              </a:spcBef>
              <a:defRPr sz="1000"/>
            </a:pPr>
            <a:r>
              <a:rPr b="1">
                <a:solidFill>
                  <a:srgbClr val="F8FAFC"/>
                </a:solidFill>
              </a:rPr>
              <a:t>Outcome: </a:t>
            </a:r>
            <a:r>
              <a:rPr>
                <a:solidFill>
                  <a:srgbClr val="94A3B8"/>
                </a:solidFill>
              </a:rPr>
              <a:t>Saved $15/month on mobile data bundles.</a:t>
            </a:r>
          </a:p>
        </p:txBody>
      </p:sp>
      <p:sp>
        <p:nvSpPr>
          <p:cNvPr id="10" name="Rounded Rectangle 9"/>
          <p:cNvSpPr/>
          <p:nvPr/>
        </p:nvSpPr>
        <p:spPr>
          <a:xfrm>
            <a:off x="8046720" y="1920240"/>
            <a:ext cx="3383280" cy="3200400"/>
          </a:xfrm>
          <a:prstGeom prst="roundRect">
            <a:avLst/>
          </a:prstGeom>
          <a:solidFill>
            <a:srgbClr val="151E34"/>
          </a:solidFill>
          <a:ln w="19050">
            <a:solidFill>
              <a:srgbClr val="2D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80" y="2057400"/>
            <a:ext cx="3108960" cy="2926080"/>
          </a:xfrm>
          <a:prstGeom prst="rect">
            <a:avLst/>
          </a:prstGeom>
          <a:noFill/>
        </p:spPr>
        <p:txBody>
          <a:bodyPr wrap="square">
            <a:spAutoFit/>
          </a:bodyPr>
          <a:lstStyle/>
          <a:p>
            <a:pPr>
              <a:defRPr sz="1300" b="1">
                <a:solidFill>
                  <a:srgbClr val="10B981"/>
                </a:solidFill>
              </a:defRPr>
            </a:pPr>
            <a:r>
              <a:t>Jean-Luc (Career Transitioner)</a:t>
            </a:r>
          </a:p>
          <a:p>
            <a:pPr>
              <a:defRPr sz="1000">
                <a:solidFill>
                  <a:srgbClr val="94A3B8"/>
                </a:solidFill>
              </a:defRPr>
            </a:pPr>
            <a:r>
              <a:t>📍 Kigali, Rwanda</a:t>
            </a:r>
          </a:p>
          <a:p>
            <a:pPr>
              <a:spcBef>
                <a:spcPts val="600"/>
              </a:spcBef>
              <a:defRPr sz="1000"/>
            </a:pPr>
            <a:r>
              <a:rPr b="1">
                <a:solidFill>
                  <a:srgbClr val="F8FAFC"/>
                </a:solidFill>
              </a:rPr>
              <a:t>Challenge: </a:t>
            </a:r>
            <a:r>
              <a:rPr>
                <a:solidFill>
                  <a:srgbClr val="94A3B8"/>
                </a:solidFill>
              </a:rPr>
              <a:t>Non-technical background; English is a second language; overwhelmed by dense documentation.</a:t>
            </a:r>
          </a:p>
          <a:p>
            <a:pPr>
              <a:spcBef>
                <a:spcPts val="600"/>
              </a:spcBef>
              <a:defRPr sz="1000"/>
            </a:pPr>
            <a:r>
              <a:rPr b="1">
                <a:solidFill>
                  <a:srgbClr val="F8FAFC"/>
                </a:solidFill>
              </a:rPr>
              <a:t>The Hook: </a:t>
            </a:r>
            <a:r>
              <a:rPr>
                <a:solidFill>
                  <a:srgbClr val="94A3B8"/>
                </a:solidFill>
              </a:rPr>
              <a:t>Learned IaaS vs PaaS through communal farming granaries in French &amp; Kiswahili with audio read-aloud.</a:t>
            </a:r>
          </a:p>
          <a:p>
            <a:pPr>
              <a:spcBef>
                <a:spcPts val="600"/>
              </a:spcBef>
              <a:defRPr sz="1000"/>
            </a:pPr>
            <a:r>
              <a:rPr b="1">
                <a:solidFill>
                  <a:srgbClr val="F8FAFC"/>
                </a:solidFill>
              </a:rPr>
              <a:t>Outcome: </a:t>
            </a:r>
            <a:r>
              <a:rPr>
                <a:solidFill>
                  <a:srgbClr val="94A3B8"/>
                </a:solidFill>
              </a:rPr>
              <a:t>Eliminated exam anxiety; booked test date.</a:t>
            </a:r>
          </a:p>
        </p:txBody>
      </p:sp>
      <p:sp>
        <p:nvSpPr>
          <p:cNvPr id="12" name="Rounded Rectangle 11"/>
          <p:cNvSpPr/>
          <p:nvPr/>
        </p:nvSpPr>
        <p:spPr>
          <a:xfrm>
            <a:off x="731520" y="5303520"/>
            <a:ext cx="10698480" cy="118872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394960"/>
            <a:ext cx="10332720" cy="1005840"/>
          </a:xfrm>
          <a:prstGeom prst="rect">
            <a:avLst/>
          </a:prstGeom>
          <a:noFill/>
        </p:spPr>
        <p:txBody>
          <a:bodyPr wrap="square">
            <a:spAutoFit/>
          </a:bodyPr>
          <a:lstStyle/>
          <a:p>
            <a:pPr>
              <a:defRPr sz="1200" b="1">
                <a:solidFill>
                  <a:srgbClr val="F59E0B"/>
                </a:solidFill>
              </a:defRPr>
            </a:pPr>
            <a:r>
              <a:t>🌍 PEDAGOGICAL LOCALIZATION: 4 LANGUAGES &amp; EVERYDAY CULTURAL ANCHORS</a:t>
            </a:r>
          </a:p>
          <a:p>
            <a:pPr>
              <a:spcBef>
                <a:spcPts val="400"/>
              </a:spcBef>
              <a:defRPr sz="1050">
                <a:solidFill>
                  <a:srgbClr val="F8FAFC"/>
                </a:solidFill>
              </a:defRPr>
            </a:pPr>
            <a:r>
              <a:t>• Multilingual Explanations: Full vernacular support in English, Kiswahili/Sheng, Nigerian Pidgin, and French.</a:t>
            </a:r>
            <a:br/>
            <a:r>
              <a:t>• Culturally Grounded Analogies: Azure Regions = African Trading Corridors | Availability Zones = Independent Power Sub-stations</a:t>
            </a:r>
            <a:br/>
            <a:r>
              <a:t>• Granary vs Renting: Cloud Capital vs Operational Expenditure explained using community harvest silos.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206240" cy="320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latin typeface="Segoe UI"/>
              </a:defRPr>
            </a:pPr>
            <a:r>
              <a:t>UNIVERSAL INCLUSION &amp; HORIZONTAL SCALE  |  RUBRIC: 20 PTS</a:t>
            </a:r>
          </a:p>
        </p:txBody>
      </p:sp>
      <p:sp>
        <p:nvSpPr>
          <p:cNvPr id="4" name="TextBox 3"/>
          <p:cNvSpPr txBox="1"/>
          <p:nvPr/>
        </p:nvSpPr>
        <p:spPr>
          <a:xfrm>
            <a:off x="731520" y="749808"/>
            <a:ext cx="10698480" cy="594360"/>
          </a:xfrm>
          <a:prstGeom prst="rect">
            <a:avLst/>
          </a:prstGeom>
          <a:noFill/>
        </p:spPr>
        <p:txBody>
          <a:bodyPr wrap="square">
            <a:spAutoFit/>
          </a:bodyPr>
          <a:lstStyle/>
          <a:p>
            <a:pPr>
              <a:defRPr sz="2400" b="1">
                <a:solidFill>
                  <a:srgbClr val="F8FAFC"/>
                </a:solidFill>
                <a:latin typeface="Segoe UI"/>
              </a:defRPr>
            </a:pPr>
            <a:r>
              <a:t>No Learner Left Behind: Target WCAG 2.1 AAA &amp; Infinite Scale</a:t>
            </a:r>
          </a:p>
        </p:txBody>
      </p:sp>
      <p:sp>
        <p:nvSpPr>
          <p:cNvPr id="5" name="TextBox 4"/>
          <p:cNvSpPr txBox="1"/>
          <p:nvPr/>
        </p:nvSpPr>
        <p:spPr>
          <a:xfrm>
            <a:off x="731520" y="1325880"/>
            <a:ext cx="10698480" cy="411480"/>
          </a:xfrm>
          <a:prstGeom prst="rect">
            <a:avLst/>
          </a:prstGeom>
          <a:noFill/>
        </p:spPr>
        <p:txBody>
          <a:bodyPr wrap="square">
            <a:spAutoFit/>
          </a:bodyPr>
          <a:lstStyle/>
          <a:p>
            <a:pPr>
              <a:defRPr sz="1300" i="1">
                <a:solidFill>
                  <a:srgbClr val="F59E0B"/>
                </a:solidFill>
                <a:latin typeface="Segoe UI"/>
              </a:defRPr>
            </a:pPr>
            <a:r>
              <a:t>Accessibility-First Engineering Meets Cost-Free Serverless Scalability</a:t>
            </a:r>
          </a:p>
        </p:txBody>
      </p:sp>
      <p:sp>
        <p:nvSpPr>
          <p:cNvPr id="6" name="Rounded Rectangle 5"/>
          <p:cNvSpPr/>
          <p:nvPr/>
        </p:nvSpPr>
        <p:spPr>
          <a:xfrm>
            <a:off x="731520" y="1920240"/>
            <a:ext cx="5120640" cy="4297680"/>
          </a:xfrm>
          <a:prstGeom prst="roundRect">
            <a:avLst/>
          </a:prstGeom>
          <a:solidFill>
            <a:srgbClr val="151E34"/>
          </a:solidFill>
          <a:ln w="19050">
            <a:solidFill>
              <a:srgbClr val="2D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03120"/>
            <a:ext cx="4754880" cy="3931920"/>
          </a:xfrm>
          <a:prstGeom prst="rect">
            <a:avLst/>
          </a:prstGeom>
          <a:noFill/>
        </p:spPr>
        <p:txBody>
          <a:bodyPr wrap="square">
            <a:spAutoFit/>
          </a:bodyPr>
          <a:lstStyle/>
          <a:p>
            <a:pPr>
              <a:defRPr sz="1500" b="1">
                <a:solidFill>
                  <a:srgbClr val="10B981"/>
                </a:solidFill>
              </a:defRPr>
            </a:pPr>
            <a:r>
              <a:t>UNIVERSAL ACCESSIBILITY (WCAG 2.1 AAA)</a:t>
            </a:r>
          </a:p>
          <a:p>
            <a:pPr>
              <a:spcBef>
                <a:spcPts val="800"/>
              </a:spcBef>
              <a:defRPr sz="1050"/>
            </a:pPr>
            <a:r>
              <a:rPr b="1">
                <a:solidFill>
                  <a:srgbClr val="F8FAFC"/>
                </a:solidFill>
              </a:rPr>
              <a:t>♿ Web Speech Text-to-Speech: </a:t>
            </a:r>
            <a:r>
              <a:rPr>
                <a:solidFill>
                  <a:srgbClr val="94A3B8"/>
                </a:solidFill>
              </a:rPr>
              <a:t>Full offline audio read-aloud for visually impaired learners and busy commuters.</a:t>
            </a:r>
          </a:p>
          <a:p>
            <a:pPr>
              <a:spcBef>
                <a:spcPts val="800"/>
              </a:spcBef>
              <a:defRPr sz="1050"/>
            </a:pPr>
            <a:r>
              <a:rPr b="1">
                <a:solidFill>
                  <a:srgbClr val="F8FAFC"/>
                </a:solidFill>
              </a:rPr>
              <a:t>♿ Dyslexia-Optimized Typography: </a:t>
            </a:r>
            <a:r>
              <a:rPr>
                <a:solidFill>
                  <a:srgbClr val="94A3B8"/>
                </a:solidFill>
              </a:rPr>
              <a:t>High-legibility letter spacing, line height, and font-weight toggles eliminate visual crowding.</a:t>
            </a:r>
          </a:p>
          <a:p>
            <a:pPr>
              <a:spcBef>
                <a:spcPts val="800"/>
              </a:spcBef>
              <a:defRPr sz="1050"/>
            </a:pPr>
            <a:r>
              <a:rPr b="1">
                <a:solidFill>
                  <a:srgbClr val="F8FAFC"/>
                </a:solidFill>
              </a:rPr>
              <a:t>♿ High-Contrast Mode: </a:t>
            </a:r>
            <a:r>
              <a:rPr>
                <a:solidFill>
                  <a:srgbClr val="94A3B8"/>
                </a:solidFill>
              </a:rPr>
              <a:t>Calculated AAA contrast ratios (7:1+) for low-light conditions and OLED power saving.</a:t>
            </a:r>
          </a:p>
          <a:p>
            <a:pPr>
              <a:spcBef>
                <a:spcPts val="800"/>
              </a:spcBef>
              <a:defRPr sz="1050"/>
            </a:pPr>
            <a:r>
              <a:rPr b="1">
                <a:solidFill>
                  <a:srgbClr val="F8FAFC"/>
                </a:solidFill>
              </a:rPr>
              <a:t>♿ 100% Keyboard Navigability: </a:t>
            </a:r>
            <a:r>
              <a:rPr>
                <a:solidFill>
                  <a:srgbClr val="94A3B8"/>
                </a:solidFill>
              </a:rPr>
              <a:t>Single-hand physical controls (1-4 answers, Enter, N for next mission, Space for flip).</a:t>
            </a:r>
          </a:p>
          <a:p>
            <a:pPr>
              <a:spcBef>
                <a:spcPts val="800"/>
              </a:spcBef>
              <a:defRPr sz="1050"/>
            </a:pPr>
            <a:r>
              <a:rPr b="1">
                <a:solidFill>
                  <a:srgbClr val="F8FAFC"/>
                </a:solidFill>
              </a:rPr>
              <a:t>♿ Screen Reader ARIA Live: </a:t>
            </a:r>
            <a:r>
              <a:rPr>
                <a:solidFill>
                  <a:srgbClr val="94A3B8"/>
                </a:solidFill>
              </a:rPr>
              <a:t>Automated announcements for score updates and question transitions.</a:t>
            </a:r>
          </a:p>
        </p:txBody>
      </p:sp>
      <p:sp>
        <p:nvSpPr>
          <p:cNvPr id="8" name="Rounded Rectangle 7"/>
          <p:cNvSpPr/>
          <p:nvPr/>
        </p:nvSpPr>
        <p:spPr>
          <a:xfrm>
            <a:off x="6217920" y="1920240"/>
            <a:ext cx="5212080" cy="4297680"/>
          </a:xfrm>
          <a:prstGeom prst="roundRect">
            <a:avLst/>
          </a:prstGeom>
          <a:solidFill>
            <a:srgbClr val="151E34"/>
          </a:solidFill>
          <a:ln w="19050">
            <a:solidFill>
              <a:srgbClr val="2D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2103120"/>
            <a:ext cx="4846320" cy="3931920"/>
          </a:xfrm>
          <a:prstGeom prst="rect">
            <a:avLst/>
          </a:prstGeom>
          <a:noFill/>
        </p:spPr>
        <p:txBody>
          <a:bodyPr wrap="square">
            <a:spAutoFit/>
          </a:bodyPr>
          <a:lstStyle/>
          <a:p>
            <a:pPr>
              <a:defRPr sz="1500" b="1">
                <a:solidFill>
                  <a:srgbClr val="38BDF8"/>
                </a:solidFill>
              </a:defRPr>
            </a:pPr>
            <a:r>
              <a:t>EXPONENTIAL IMPACT &amp; ECOSYSTEM SCALE</a:t>
            </a:r>
          </a:p>
          <a:p>
            <a:pPr>
              <a:spcBef>
                <a:spcPts val="800"/>
              </a:spcBef>
              <a:defRPr sz="1050"/>
            </a:pPr>
            <a:r>
              <a:rPr b="1">
                <a:solidFill>
                  <a:srgbClr val="F59E0B"/>
                </a:solidFill>
              </a:rPr>
              <a:t>🚀 $0.00 Cost per Student: </a:t>
            </a:r>
            <a:r>
              <a:rPr>
                <a:solidFill>
                  <a:srgbClr val="94A3B8"/>
                </a:solidFill>
              </a:rPr>
              <a:t>100% client-side computing and static edge delivery means zero recurring server costs as user base grows to 1,000,000 learners.</a:t>
            </a:r>
          </a:p>
          <a:p>
            <a:pPr>
              <a:spcBef>
                <a:spcPts val="800"/>
              </a:spcBef>
              <a:defRPr sz="1050"/>
            </a:pPr>
            <a:r>
              <a:rPr b="1">
                <a:solidFill>
                  <a:srgbClr val="F59E0B"/>
                </a:solidFill>
              </a:rPr>
              <a:t>🚀 Pluggable Certification Engine: </a:t>
            </a:r>
            <a:r>
              <a:rPr>
                <a:solidFill>
                  <a:srgbClr val="94A3B8"/>
                </a:solidFill>
              </a:rPr>
              <a:t>Modular JSON schema architecture. The cognitive engine can ingest AWS Cloud Practitioner (CLF-C02), GCP Digital Leader, or AZ-104 with zero UI rewrites.</a:t>
            </a:r>
          </a:p>
          <a:p>
            <a:pPr>
              <a:spcBef>
                <a:spcPts val="800"/>
              </a:spcBef>
              <a:defRPr sz="1050"/>
            </a:pPr>
            <a:r>
              <a:rPr b="1">
                <a:solidFill>
                  <a:srgbClr val="F59E0B"/>
                </a:solidFill>
              </a:rPr>
              <a:t>🚀 Talent Pipeline for Tech Hubs: </a:t>
            </a:r>
            <a:r>
              <a:rPr>
                <a:solidFill>
                  <a:srgbClr val="94A3B8"/>
                </a:solidFill>
              </a:rPr>
              <a:t>Helps meet Africa's booming cloud talent demand by converting raw enthusiasm into verifiable certifications.</a:t>
            </a:r>
          </a:p>
          <a:p>
            <a:pPr>
              <a:spcBef>
                <a:spcPts val="800"/>
              </a:spcBef>
              <a:defRPr sz="1050"/>
            </a:pPr>
            <a:r>
              <a:rPr b="1">
                <a:solidFill>
                  <a:srgbClr val="F59E0B"/>
                </a:solidFill>
              </a:rPr>
              <a:t>🚀 Open Educational Resource: </a:t>
            </a:r>
            <a:r>
              <a:rPr>
                <a:solidFill>
                  <a:srgbClr val="94A3B8"/>
                </a:solidFill>
              </a:rPr>
              <a:t>Published open source under MIT License for university coding clubs and local developer communities across the continent.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206240" cy="320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latin typeface="Segoe UI"/>
              </a:defRPr>
            </a:pPr>
            <a:r>
              <a:t>OPEN SOURCE, VERIFIED &amp; LIVE  |  RUBRIC: 20 PTS</a:t>
            </a:r>
          </a:p>
        </p:txBody>
      </p:sp>
      <p:sp>
        <p:nvSpPr>
          <p:cNvPr id="4" name="TextBox 3"/>
          <p:cNvSpPr txBox="1"/>
          <p:nvPr/>
        </p:nvSpPr>
        <p:spPr>
          <a:xfrm>
            <a:off x="731520" y="749808"/>
            <a:ext cx="10698480" cy="594360"/>
          </a:xfrm>
          <a:prstGeom prst="rect">
            <a:avLst/>
          </a:prstGeom>
          <a:noFill/>
        </p:spPr>
        <p:txBody>
          <a:bodyPr wrap="square">
            <a:spAutoFit/>
          </a:bodyPr>
          <a:lstStyle/>
          <a:p>
            <a:pPr>
              <a:defRPr sz="2400" b="1">
                <a:solidFill>
                  <a:srgbClr val="F8FAFC"/>
                </a:solidFill>
                <a:latin typeface="Segoe UI"/>
              </a:defRPr>
            </a:pPr>
            <a:r>
              <a:t>Vibe Coding in Action: Fast, Open, and Ready to Try</a:t>
            </a:r>
          </a:p>
        </p:txBody>
      </p:sp>
      <p:sp>
        <p:nvSpPr>
          <p:cNvPr id="5" name="TextBox 4"/>
          <p:cNvSpPr txBox="1"/>
          <p:nvPr/>
        </p:nvSpPr>
        <p:spPr>
          <a:xfrm>
            <a:off x="731520" y="1325880"/>
            <a:ext cx="10698480" cy="411480"/>
          </a:xfrm>
          <a:prstGeom prst="rect">
            <a:avLst/>
          </a:prstGeom>
          <a:noFill/>
        </p:spPr>
        <p:txBody>
          <a:bodyPr wrap="square">
            <a:spAutoFit/>
          </a:bodyPr>
          <a:lstStyle/>
          <a:p>
            <a:pPr>
              <a:defRPr sz="1300" i="1">
                <a:solidFill>
                  <a:srgbClr val="F59E0B"/>
                </a:solidFill>
                <a:latin typeface="Segoe UI"/>
              </a:defRPr>
            </a:pPr>
            <a:r>
              <a:t>Built in 48 Hours | Deployed Globally | 100% Open Source Community Study Tool</a:t>
            </a:r>
          </a:p>
        </p:txBody>
      </p:sp>
      <p:sp>
        <p:nvSpPr>
          <p:cNvPr id="6" name="Rounded Rectangle 5"/>
          <p:cNvSpPr/>
          <p:nvPr/>
        </p:nvSpPr>
        <p:spPr>
          <a:xfrm>
            <a:off x="731520" y="1920240"/>
            <a:ext cx="6217920" cy="4297680"/>
          </a:xfrm>
          <a:prstGeom prst="roundRect">
            <a:avLst/>
          </a:prstGeom>
          <a:solidFill>
            <a:srgbClr val="151E34"/>
          </a:solidFill>
          <a:ln w="19050">
            <a:solidFill>
              <a:srgbClr val="2D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03120"/>
            <a:ext cx="5852160" cy="3931920"/>
          </a:xfrm>
          <a:prstGeom prst="rect">
            <a:avLst/>
          </a:prstGeom>
          <a:noFill/>
        </p:spPr>
        <p:txBody>
          <a:bodyPr wrap="square">
            <a:spAutoFit/>
          </a:bodyPr>
          <a:lstStyle/>
          <a:p>
            <a:pPr>
              <a:defRPr sz="1500" b="1">
                <a:solidFill>
                  <a:srgbClr val="38BDF8"/>
                </a:solidFill>
              </a:defRPr>
            </a:pPr>
            <a:r>
              <a:t>THE PRODUCTION TECH STACK</a:t>
            </a:r>
          </a:p>
          <a:p>
            <a:pPr>
              <a:spcBef>
                <a:spcPts val="600"/>
              </a:spcBef>
              <a:defRPr sz="1050"/>
            </a:pPr>
            <a:r>
              <a:rPr b="1">
                <a:solidFill>
                  <a:srgbClr val="F8FAFC"/>
                </a:solidFill>
              </a:rPr>
              <a:t>⚡ Frontend: </a:t>
            </a:r>
            <a:r>
              <a:rPr>
                <a:solidFill>
                  <a:srgbClr val="94A3B8"/>
                </a:solidFill>
              </a:rPr>
              <a:t>React 19 + Vite 8 + Tailwind CSS v4 (Lightweight, instant HMR, responsive).</a:t>
            </a:r>
          </a:p>
          <a:p>
            <a:pPr>
              <a:spcBef>
                <a:spcPts val="600"/>
              </a:spcBef>
              <a:defRPr sz="1050"/>
            </a:pPr>
            <a:r>
              <a:rPr b="1">
                <a:solidFill>
                  <a:srgbClr val="F8FAFC"/>
                </a:solidFill>
              </a:rPr>
              <a:t>⚡ Offline Engine: </a:t>
            </a:r>
            <a:r>
              <a:rPr>
                <a:solidFill>
                  <a:srgbClr val="94A3B8"/>
                </a:solidFill>
              </a:rPr>
              <a:t>Custom Service Worker (sw.js) for offline caching and local background study notifications.</a:t>
            </a:r>
          </a:p>
          <a:p>
            <a:pPr>
              <a:spcBef>
                <a:spcPts val="600"/>
              </a:spcBef>
              <a:defRPr sz="1050"/>
            </a:pPr>
            <a:r>
              <a:rPr b="1">
                <a:solidFill>
                  <a:srgbClr val="F8FAFC"/>
                </a:solidFill>
              </a:rPr>
              <a:t>⚡ Adaptive AI: </a:t>
            </a:r>
            <a:r>
              <a:rPr>
                <a:solidFill>
                  <a:srgbClr val="94A3B8"/>
                </a:solidFill>
              </a:rPr>
              <a:t>Google Gemini API for dynamic weak-area diagnostic reasoning and colloquial translations.</a:t>
            </a:r>
          </a:p>
          <a:p>
            <a:pPr>
              <a:spcBef>
                <a:spcPts val="600"/>
              </a:spcBef>
              <a:defRPr sz="1050"/>
            </a:pPr>
            <a:r>
              <a:rPr b="1">
                <a:solidFill>
                  <a:srgbClr val="F8FAFC"/>
                </a:solidFill>
              </a:rPr>
              <a:t>⚡ Zero-Dependency Audio: </a:t>
            </a:r>
            <a:r>
              <a:rPr>
                <a:solidFill>
                  <a:srgbClr val="94A3B8"/>
                </a:solidFill>
              </a:rPr>
              <a:t>Web Speech API &amp; Web Audio API synthesis (0kb external audio payloads).</a:t>
            </a:r>
          </a:p>
          <a:p>
            <a:pPr>
              <a:spcBef>
                <a:spcPts val="1200"/>
              </a:spcBef>
              <a:defRPr sz="1400" b="1">
                <a:solidFill>
                  <a:srgbClr val="F59E0B"/>
                </a:solidFill>
              </a:defRPr>
            </a:pPr>
            <a:r>
              <a:t>REPOSITORIES &amp; LIVE LINKS</a:t>
            </a:r>
          </a:p>
          <a:p>
            <a:pPr>
              <a:spcBef>
                <a:spcPts val="400"/>
              </a:spcBef>
              <a:defRPr sz="1000"/>
            </a:pPr>
            <a:r>
              <a:rPr b="1">
                <a:solidFill>
                  <a:srgbClr val="38BDF8"/>
                </a:solidFill>
              </a:rPr>
              <a:t>🔗 Live Web App: </a:t>
            </a:r>
            <a:r>
              <a:rPr>
                <a:solidFill>
                  <a:srgbClr val="F8FAFC"/>
                </a:solidFill>
              </a:rPr>
              <a:t>https://az900-vibe-agent.vercel.app/</a:t>
            </a:r>
          </a:p>
          <a:p>
            <a:pPr>
              <a:spcBef>
                <a:spcPts val="400"/>
              </a:spcBef>
              <a:defRPr sz="1000"/>
            </a:pPr>
            <a:r>
              <a:rPr b="1">
                <a:solidFill>
                  <a:srgbClr val="38BDF8"/>
                </a:solidFill>
              </a:rPr>
              <a:t>🔗 GitHub Repository: </a:t>
            </a:r>
            <a:r>
              <a:rPr>
                <a:solidFill>
                  <a:srgbClr val="F8FAFC"/>
                </a:solidFill>
              </a:rPr>
              <a:t>https://github.com/ondinookello96/az900-vibe-agent</a:t>
            </a:r>
          </a:p>
          <a:p>
            <a:pPr>
              <a:spcBef>
                <a:spcPts val="400"/>
              </a:spcBef>
              <a:defRPr sz="1000"/>
            </a:pPr>
            <a:r>
              <a:rPr b="1">
                <a:solidFill>
                  <a:srgbClr val="38BDF8"/>
                </a:solidFill>
              </a:rPr>
              <a:t>🔗 Official Track: </a:t>
            </a:r>
            <a:r>
              <a:rPr>
                <a:solidFill>
                  <a:srgbClr val="F8FAFC"/>
                </a:solidFill>
              </a:rPr>
              <a:t>📊 Progress: Readiness Tracker (#1MillionDevs Movement)</a:t>
            </a:r>
          </a:p>
        </p:txBody>
      </p:sp>
      <p:sp>
        <p:nvSpPr>
          <p:cNvPr id="8" name="Rounded Rectangle 7"/>
          <p:cNvSpPr/>
          <p:nvPr/>
        </p:nvSpPr>
        <p:spPr>
          <a:xfrm>
            <a:off x="7315200" y="1920240"/>
            <a:ext cx="4114800" cy="4297680"/>
          </a:xfrm>
          <a:prstGeom prst="roundRect">
            <a:avLst/>
          </a:prstGeom>
          <a:solidFill>
            <a:srgbClr val="151E34"/>
          </a:solidFill>
          <a:ln w="19050">
            <a:solidFill>
              <a:srgbClr val="2D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79" y="2103120"/>
            <a:ext cx="3749039" cy="914400"/>
          </a:xfrm>
          <a:prstGeom prst="rect">
            <a:avLst/>
          </a:prstGeom>
          <a:noFill/>
        </p:spPr>
        <p:txBody>
          <a:bodyPr wrap="square">
            <a:spAutoFit/>
          </a:bodyPr>
          <a:lstStyle/>
          <a:p>
            <a:pPr algn="ctr">
              <a:defRPr sz="1500" b="1">
                <a:solidFill>
                  <a:srgbClr val="10B981"/>
                </a:solidFill>
              </a:defRPr>
            </a:pPr>
            <a:r>
              <a:t>SCAN &amp; TEST LIVE APP</a:t>
            </a:r>
          </a:p>
          <a:p>
            <a:pPr algn="ctr">
              <a:defRPr sz="1000">
                <a:solidFill>
                  <a:srgbClr val="94A3B8"/>
                </a:solidFill>
              </a:defRPr>
            </a:pPr>
            <a:r>
              <a:t>Interactive PWA On Any Device</a:t>
            </a:r>
          </a:p>
        </p:txBody>
      </p:sp>
      <p:pic>
        <p:nvPicPr>
          <p:cNvPr id="10" name="Picture 9" descr="az900_qr.png"/>
          <p:cNvPicPr>
            <a:picLocks noChangeAspect="1"/>
          </p:cNvPicPr>
          <p:nvPr/>
        </p:nvPicPr>
        <p:blipFill>
          <a:blip r:embed="rId2"/>
          <a:stretch>
            <a:fillRect/>
          </a:stretch>
        </p:blipFill>
        <p:spPr>
          <a:xfrm>
            <a:off x="8046720" y="2926080"/>
            <a:ext cx="2651760" cy="2651760"/>
          </a:xfrm>
          <a:prstGeom prst="rect">
            <a:avLst/>
          </a:prstGeom>
        </p:spPr>
      </p:pic>
      <p:sp>
        <p:nvSpPr>
          <p:cNvPr id="11" name="TextBox 10"/>
          <p:cNvSpPr txBox="1"/>
          <p:nvPr/>
        </p:nvSpPr>
        <p:spPr>
          <a:xfrm>
            <a:off x="7498079" y="5623560"/>
            <a:ext cx="3749039" cy="457200"/>
          </a:xfrm>
          <a:prstGeom prst="rect">
            <a:avLst/>
          </a:prstGeom>
          <a:noFill/>
        </p:spPr>
        <p:txBody>
          <a:bodyPr wrap="none">
            <a:spAutoFit/>
          </a:bodyPr>
          <a:lstStyle/>
          <a:p>
            <a:pPr algn="ctr">
              <a:defRPr sz="1100" b="1">
                <a:solidFill>
                  <a:srgbClr val="38BDF8"/>
                </a:solidFill>
              </a:defRPr>
            </a:pPr>
            <a:r>
              <a:t>az900-vibe-agent.vercel.app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